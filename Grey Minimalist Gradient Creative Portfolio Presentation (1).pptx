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Garet Light" charset="1" panose="00000000000000000000"/>
      <p:regular r:id="rId15"/>
    </p:embeddedFont>
    <p:embeddedFont>
      <p:font typeface="Playfair Display Italics" charset="1" panose="00000000000000000000"/>
      <p:regular r:id="rId16"/>
    </p:embeddedFont>
    <p:embeddedFont>
      <p:font typeface="Open Sans Bold" charset="1" panose="020B0806030504020204"/>
      <p:regular r:id="rId17"/>
    </p:embeddedFont>
    <p:embeddedFont>
      <p:font typeface="Playfair Display" charset="1" panose="00000000000000000000"/>
      <p:regular r:id="rId18"/>
    </p:embeddedFont>
    <p:embeddedFont>
      <p:font typeface="Garet" charset="1" panose="00000000000000000000"/>
      <p:regular r:id="rId19"/>
    </p:embeddedFont>
    <p:embeddedFont>
      <p:font typeface="Garet Italics"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1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BDBDB"/>
        </a:solidFill>
      </p:bgPr>
    </p:bg>
    <p:spTree>
      <p:nvGrpSpPr>
        <p:cNvPr id="1" name=""/>
        <p:cNvGrpSpPr/>
        <p:nvPr/>
      </p:nvGrpSpPr>
      <p:grpSpPr>
        <a:xfrm>
          <a:off x="0" y="0"/>
          <a:ext cx="0" cy="0"/>
          <a:chOff x="0" y="0"/>
          <a:chExt cx="0" cy="0"/>
        </a:xfrm>
      </p:grpSpPr>
      <p:sp>
        <p:nvSpPr>
          <p:cNvPr name="Freeform 2" id="2"/>
          <p:cNvSpPr/>
          <p:nvPr/>
        </p:nvSpPr>
        <p:spPr>
          <a:xfrm flipH="false" flipV="false" rot="0">
            <a:off x="10953064" y="28956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39061" y="3294770"/>
            <a:ext cx="4227016" cy="1077731"/>
          </a:xfrm>
          <a:prstGeom prst="rect">
            <a:avLst/>
          </a:prstGeom>
        </p:spPr>
        <p:txBody>
          <a:bodyPr anchor="t" rtlCol="false" tIns="0" lIns="0" bIns="0" rIns="0">
            <a:spAutoFit/>
          </a:bodyPr>
          <a:lstStyle/>
          <a:p>
            <a:pPr algn="l">
              <a:lnSpc>
                <a:spcPts val="8371"/>
              </a:lnSpc>
            </a:pPr>
          </a:p>
        </p:txBody>
      </p:sp>
      <p:sp>
        <p:nvSpPr>
          <p:cNvPr name="AutoShape 4" id="4"/>
          <p:cNvSpPr/>
          <p:nvPr/>
        </p:nvSpPr>
        <p:spPr>
          <a:xfrm>
            <a:off x="-143634" y="6778106"/>
            <a:ext cx="7038315" cy="0"/>
          </a:xfrm>
          <a:prstGeom prst="line">
            <a:avLst/>
          </a:prstGeom>
          <a:ln cap="flat" w="19050">
            <a:solidFill>
              <a:srgbClr val="000000"/>
            </a:solidFill>
            <a:prstDash val="solid"/>
            <a:headEnd type="none" len="sm" w="sm"/>
            <a:tailEnd type="none" len="sm" w="sm"/>
          </a:ln>
        </p:spPr>
      </p:sp>
      <p:sp>
        <p:nvSpPr>
          <p:cNvPr name="TextBox 5" id="5"/>
          <p:cNvSpPr txBox="true"/>
          <p:nvPr/>
        </p:nvSpPr>
        <p:spPr>
          <a:xfrm rot="0">
            <a:off x="6894681" y="6479120"/>
            <a:ext cx="5808187" cy="531297"/>
          </a:xfrm>
          <a:prstGeom prst="rect">
            <a:avLst/>
          </a:prstGeom>
        </p:spPr>
        <p:txBody>
          <a:bodyPr anchor="t" rtlCol="false" tIns="0" lIns="0" bIns="0" rIns="0">
            <a:spAutoFit/>
          </a:bodyPr>
          <a:lstStyle/>
          <a:p>
            <a:pPr algn="ctr">
              <a:lnSpc>
                <a:spcPts val="4315"/>
              </a:lnSpc>
            </a:pPr>
            <a:r>
              <a:rPr lang="en-US" sz="3082">
                <a:solidFill>
                  <a:srgbClr val="000000"/>
                </a:solidFill>
                <a:latin typeface="Garet Light"/>
                <a:ea typeface="Garet Light"/>
                <a:cs typeface="Garet Light"/>
                <a:sym typeface="Garet Light"/>
              </a:rPr>
              <a:t>Por: Matheus lopes Spindola</a:t>
            </a:r>
          </a:p>
        </p:txBody>
      </p:sp>
      <p:sp>
        <p:nvSpPr>
          <p:cNvPr name="TextBox 6" id="6"/>
          <p:cNvSpPr txBox="true"/>
          <p:nvPr/>
        </p:nvSpPr>
        <p:spPr>
          <a:xfrm rot="0">
            <a:off x="4916984" y="3938361"/>
            <a:ext cx="8454031" cy="2174379"/>
          </a:xfrm>
          <a:prstGeom prst="rect">
            <a:avLst/>
          </a:prstGeom>
        </p:spPr>
        <p:txBody>
          <a:bodyPr anchor="t" rtlCol="false" tIns="0" lIns="0" bIns="0" rIns="0">
            <a:spAutoFit/>
          </a:bodyPr>
          <a:lstStyle/>
          <a:p>
            <a:pPr algn="ctr">
              <a:lnSpc>
                <a:spcPts val="16743"/>
              </a:lnSpc>
            </a:pPr>
            <a:r>
              <a:rPr lang="en-US" sz="15221" i="true">
                <a:solidFill>
                  <a:srgbClr val="000000"/>
                </a:solidFill>
                <a:latin typeface="Playfair Display Italics"/>
                <a:ea typeface="Playfair Display Italics"/>
                <a:cs typeface="Playfair Display Italics"/>
                <a:sym typeface="Playfair Display Italics"/>
              </a:rPr>
              <a:t>Portfolio</a:t>
            </a:r>
          </a:p>
        </p:txBody>
      </p:sp>
      <p:sp>
        <p:nvSpPr>
          <p:cNvPr name="TextBox 7" id="7"/>
          <p:cNvSpPr txBox="true"/>
          <p:nvPr/>
        </p:nvSpPr>
        <p:spPr>
          <a:xfrm rot="0">
            <a:off x="1028700" y="2819400"/>
            <a:ext cx="9728873" cy="1369679"/>
          </a:xfrm>
          <a:prstGeom prst="rect">
            <a:avLst/>
          </a:prstGeom>
        </p:spPr>
        <p:txBody>
          <a:bodyPr anchor="t" rtlCol="false" tIns="0" lIns="0" bIns="0" rIns="0">
            <a:spAutoFit/>
          </a:bodyPr>
          <a:lstStyle/>
          <a:p>
            <a:pPr algn="ctr">
              <a:lnSpc>
                <a:spcPts val="5488"/>
              </a:lnSpc>
            </a:pPr>
            <a:r>
              <a:rPr lang="en-US" sz="3920" b="true">
                <a:solidFill>
                  <a:srgbClr val="000000"/>
                </a:solidFill>
                <a:latin typeface="Open Sans Bold"/>
                <a:ea typeface="Open Sans Bold"/>
                <a:cs typeface="Open Sans Bold"/>
                <a:sym typeface="Open Sans Bold"/>
              </a:rPr>
              <a:t>Estudante de Engenharia de Software Centro Universitario de brasilia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BDBDB"/>
        </a:solidFill>
      </p:bgPr>
    </p:bg>
    <p:spTree>
      <p:nvGrpSpPr>
        <p:cNvPr id="1" name=""/>
        <p:cNvGrpSpPr/>
        <p:nvPr/>
      </p:nvGrpSpPr>
      <p:grpSpPr>
        <a:xfrm>
          <a:off x="0" y="0"/>
          <a:ext cx="0" cy="0"/>
          <a:chOff x="0" y="0"/>
          <a:chExt cx="0" cy="0"/>
        </a:xfrm>
      </p:grpSpPr>
      <p:sp>
        <p:nvSpPr>
          <p:cNvPr name="AutoShape 2" id="2"/>
          <p:cNvSpPr/>
          <p:nvPr/>
        </p:nvSpPr>
        <p:spPr>
          <a:xfrm>
            <a:off x="0" y="9702066"/>
            <a:ext cx="7038315" cy="0"/>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12697786" y="4011110"/>
            <a:ext cx="6264479" cy="6275890"/>
          </a:xfrm>
          <a:custGeom>
            <a:avLst/>
            <a:gdLst/>
            <a:ahLst/>
            <a:cxnLst/>
            <a:rect r="r" b="b" t="t" l="l"/>
            <a:pathLst>
              <a:path h="6275890" w="6264479">
                <a:moveTo>
                  <a:pt x="0" y="0"/>
                </a:moveTo>
                <a:lnTo>
                  <a:pt x="6264479" y="0"/>
                </a:lnTo>
                <a:lnTo>
                  <a:pt x="6264479" y="6275890"/>
                </a:lnTo>
                <a:lnTo>
                  <a:pt x="0" y="6275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777871"/>
            <a:ext cx="8419468" cy="1435664"/>
          </a:xfrm>
          <a:prstGeom prst="rect">
            <a:avLst/>
          </a:prstGeom>
        </p:spPr>
        <p:txBody>
          <a:bodyPr anchor="t" rtlCol="false" tIns="0" lIns="0" bIns="0" rIns="0">
            <a:spAutoFit/>
          </a:bodyPr>
          <a:lstStyle/>
          <a:p>
            <a:pPr algn="l">
              <a:lnSpc>
                <a:spcPts val="11059"/>
              </a:lnSpc>
            </a:pPr>
            <a:r>
              <a:rPr lang="en-US" sz="10054">
                <a:solidFill>
                  <a:srgbClr val="000000"/>
                </a:solidFill>
                <a:latin typeface="Playfair Display"/>
                <a:ea typeface="Playfair Display"/>
                <a:cs typeface="Playfair Display"/>
                <a:sym typeface="Playfair Display"/>
              </a:rPr>
              <a:t>Introdução</a:t>
            </a:r>
          </a:p>
        </p:txBody>
      </p:sp>
      <p:sp>
        <p:nvSpPr>
          <p:cNvPr name="TextBox 5" id="5"/>
          <p:cNvSpPr txBox="true"/>
          <p:nvPr/>
        </p:nvSpPr>
        <p:spPr>
          <a:xfrm rot="0">
            <a:off x="1028700" y="2175435"/>
            <a:ext cx="10017392" cy="2668956"/>
          </a:xfrm>
          <a:prstGeom prst="rect">
            <a:avLst/>
          </a:prstGeom>
        </p:spPr>
        <p:txBody>
          <a:bodyPr anchor="t" rtlCol="false" tIns="0" lIns="0" bIns="0" rIns="0">
            <a:spAutoFit/>
          </a:bodyPr>
          <a:lstStyle/>
          <a:p>
            <a:pPr algn="just">
              <a:lnSpc>
                <a:spcPts val="3045"/>
              </a:lnSpc>
            </a:pPr>
            <a:r>
              <a:rPr lang="en-US" sz="2175">
                <a:solidFill>
                  <a:srgbClr val="000000"/>
                </a:solidFill>
                <a:latin typeface="Garet"/>
                <a:ea typeface="Garet"/>
                <a:cs typeface="Garet"/>
                <a:sym typeface="Garet"/>
              </a:rPr>
              <a:t>S</a:t>
            </a:r>
            <a:r>
              <a:rPr lang="en-US" sz="2175">
                <a:solidFill>
                  <a:srgbClr val="000000"/>
                </a:solidFill>
                <a:latin typeface="Garet"/>
                <a:ea typeface="Garet"/>
                <a:cs typeface="Garet"/>
                <a:sym typeface="Garet"/>
              </a:rPr>
              <a:t>ou estudante de Engenharia de Software pelo Centro Universitário de Brasília (CEUB), onde venho construindo uma base sólida tanto em fundamentos teóricos quanto em práticas de desenvolvimento tecnológico. Ao longo da minha trajetória acadêmica, tenho explorado diferentes áreas da computação, desenvolvendo habilidades em programação, análise de sistemas e resolução de problemas complexos.</a:t>
            </a:r>
          </a:p>
        </p:txBody>
      </p:sp>
      <p:sp>
        <p:nvSpPr>
          <p:cNvPr name="TextBox 6" id="6"/>
          <p:cNvSpPr txBox="true"/>
          <p:nvPr/>
        </p:nvSpPr>
        <p:spPr>
          <a:xfrm rot="0">
            <a:off x="1028700" y="5105400"/>
            <a:ext cx="10017392" cy="2304304"/>
          </a:xfrm>
          <a:prstGeom prst="rect">
            <a:avLst/>
          </a:prstGeom>
        </p:spPr>
        <p:txBody>
          <a:bodyPr anchor="t" rtlCol="false" tIns="0" lIns="0" bIns="0" rIns="0">
            <a:spAutoFit/>
          </a:bodyPr>
          <a:lstStyle/>
          <a:p>
            <a:pPr algn="just">
              <a:lnSpc>
                <a:spcPts val="3071"/>
              </a:lnSpc>
            </a:pPr>
            <a:r>
              <a:rPr lang="en-US" sz="2193">
                <a:solidFill>
                  <a:srgbClr val="000000"/>
                </a:solidFill>
                <a:latin typeface="Garet"/>
                <a:ea typeface="Garet"/>
                <a:cs typeface="Garet"/>
                <a:sym typeface="Garet"/>
              </a:rPr>
              <a:t>Este p</a:t>
            </a:r>
            <a:r>
              <a:rPr lang="en-US" sz="2193">
                <a:solidFill>
                  <a:srgbClr val="000000"/>
                </a:solidFill>
                <a:latin typeface="Garet"/>
                <a:ea typeface="Garet"/>
                <a:cs typeface="Garet"/>
                <a:sym typeface="Garet"/>
              </a:rPr>
              <a:t>ortfólio tem como objetivo apresentar minha evolução durante o curso, reunindo projetos, experiências e conhecimentos adquiridos ao longo da graduação. Além do desenvolvimento acadêmico, busco constantemente expandir minhas áreas de interesse, explorando temas como inovação tecnológica, desenvolvimento de software aplicado e soluções voltadas às demandas do mercado.</a:t>
            </a:r>
          </a:p>
        </p:txBody>
      </p:sp>
      <p:sp>
        <p:nvSpPr>
          <p:cNvPr name="TextBox 7" id="7"/>
          <p:cNvSpPr txBox="true"/>
          <p:nvPr/>
        </p:nvSpPr>
        <p:spPr>
          <a:xfrm rot="0">
            <a:off x="1028700" y="7858262"/>
            <a:ext cx="10017392" cy="1400038"/>
          </a:xfrm>
          <a:prstGeom prst="rect">
            <a:avLst/>
          </a:prstGeom>
        </p:spPr>
        <p:txBody>
          <a:bodyPr anchor="t" rtlCol="false" tIns="0" lIns="0" bIns="0" rIns="0">
            <a:spAutoFit/>
          </a:bodyPr>
          <a:lstStyle/>
          <a:p>
            <a:pPr algn="ctr">
              <a:lnSpc>
                <a:spcPts val="2803"/>
              </a:lnSpc>
              <a:spcBef>
                <a:spcPct val="0"/>
              </a:spcBef>
            </a:pPr>
            <a:r>
              <a:rPr lang="en-US" sz="2002">
                <a:solidFill>
                  <a:srgbClr val="000000"/>
                </a:solidFill>
                <a:latin typeface="Garet"/>
                <a:ea typeface="Garet"/>
                <a:cs typeface="Garet"/>
                <a:sym typeface="Garet"/>
              </a:rPr>
              <a:t>M</a:t>
            </a:r>
            <a:r>
              <a:rPr lang="en-US" sz="2002">
                <a:solidFill>
                  <a:srgbClr val="000000"/>
                </a:solidFill>
                <a:latin typeface="Garet"/>
                <a:ea typeface="Garet"/>
                <a:cs typeface="Garet"/>
                <a:sym typeface="Garet"/>
              </a:rPr>
              <a:t>eu foco é integrar teoria e prática, sempre com o objetivo de criar soluções eficientes, escaláveis e alinhadas às necessidades reais dos usuários. Este espaço reflete não apenas minha formação, mas também meu compromisso com aprendizado contínuo e crescimento profissional.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BDBDB"/>
        </a:solidFill>
      </p:bgPr>
    </p:bg>
    <p:spTree>
      <p:nvGrpSpPr>
        <p:cNvPr id="1" name=""/>
        <p:cNvGrpSpPr/>
        <p:nvPr/>
      </p:nvGrpSpPr>
      <p:grpSpPr>
        <a:xfrm>
          <a:off x="0" y="0"/>
          <a:ext cx="0" cy="0"/>
          <a:chOff x="0" y="0"/>
          <a:chExt cx="0" cy="0"/>
        </a:xfrm>
      </p:grpSpPr>
      <p:sp>
        <p:nvSpPr>
          <p:cNvPr name="Freeform 2" id="2"/>
          <p:cNvSpPr/>
          <p:nvPr/>
        </p:nvSpPr>
        <p:spPr>
          <a:xfrm flipH="false" flipV="false" rot="0">
            <a:off x="10956660" y="3265680"/>
            <a:ext cx="7082602" cy="7082602"/>
          </a:xfrm>
          <a:custGeom>
            <a:avLst/>
            <a:gdLst/>
            <a:ahLst/>
            <a:cxnLst/>
            <a:rect r="r" b="b" t="t" l="l"/>
            <a:pathLst>
              <a:path h="7082602" w="7082602">
                <a:moveTo>
                  <a:pt x="0" y="0"/>
                </a:moveTo>
                <a:lnTo>
                  <a:pt x="7082603" y="0"/>
                </a:lnTo>
                <a:lnTo>
                  <a:pt x="7082603" y="7082603"/>
                </a:lnTo>
                <a:lnTo>
                  <a:pt x="0" y="7082603"/>
                </a:lnTo>
                <a:lnTo>
                  <a:pt x="0" y="0"/>
                </a:lnTo>
                <a:close/>
              </a:path>
            </a:pathLst>
          </a:custGeom>
          <a:blipFill>
            <a:blip r:embed="rId2">
              <a:alphaModFix amt="51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569809" y="442485"/>
            <a:ext cx="6737985" cy="673798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50093"/>
              </a:stretch>
            </a:blipFill>
          </p:spPr>
        </p:sp>
      </p:grpSp>
      <p:sp>
        <p:nvSpPr>
          <p:cNvPr name="AutoShape 5" id="5"/>
          <p:cNvSpPr/>
          <p:nvPr/>
        </p:nvSpPr>
        <p:spPr>
          <a:xfrm>
            <a:off x="-8490755" y="9753476"/>
            <a:ext cx="13755343" cy="0"/>
          </a:xfrm>
          <a:prstGeom prst="line">
            <a:avLst/>
          </a:prstGeom>
          <a:ln cap="flat" w="19050">
            <a:solidFill>
              <a:srgbClr val="000000"/>
            </a:solidFill>
            <a:prstDash val="solid"/>
            <a:headEnd type="none" len="sm" w="sm"/>
            <a:tailEnd type="none" len="sm" w="sm"/>
          </a:ln>
        </p:spPr>
      </p:sp>
      <p:sp>
        <p:nvSpPr>
          <p:cNvPr name="TextBox 6" id="6"/>
          <p:cNvSpPr txBox="true"/>
          <p:nvPr/>
        </p:nvSpPr>
        <p:spPr>
          <a:xfrm rot="0">
            <a:off x="1028700" y="1352690"/>
            <a:ext cx="9927960" cy="1108142"/>
          </a:xfrm>
          <a:prstGeom prst="rect">
            <a:avLst/>
          </a:prstGeom>
        </p:spPr>
        <p:txBody>
          <a:bodyPr anchor="t" rtlCol="false" tIns="0" lIns="0" bIns="0" rIns="0">
            <a:spAutoFit/>
          </a:bodyPr>
          <a:lstStyle/>
          <a:p>
            <a:pPr algn="l">
              <a:lnSpc>
                <a:spcPts val="8530"/>
              </a:lnSpc>
            </a:pPr>
            <a:r>
              <a:rPr lang="en-US" sz="7755" i="true">
                <a:solidFill>
                  <a:srgbClr val="000000"/>
                </a:solidFill>
                <a:latin typeface="Playfair Display Italics"/>
                <a:ea typeface="Playfair Display Italics"/>
                <a:cs typeface="Playfair Display Italics"/>
                <a:sym typeface="Playfair Display Italics"/>
              </a:rPr>
              <a:t>Eu Sou Matheus</a:t>
            </a:r>
          </a:p>
        </p:txBody>
      </p:sp>
      <p:sp>
        <p:nvSpPr>
          <p:cNvPr name="TextBox 7" id="7"/>
          <p:cNvSpPr txBox="true"/>
          <p:nvPr/>
        </p:nvSpPr>
        <p:spPr>
          <a:xfrm rot="0">
            <a:off x="494310" y="739081"/>
            <a:ext cx="2400967" cy="617339"/>
          </a:xfrm>
          <a:prstGeom prst="rect">
            <a:avLst/>
          </a:prstGeom>
        </p:spPr>
        <p:txBody>
          <a:bodyPr anchor="t" rtlCol="false" tIns="0" lIns="0" bIns="0" rIns="0">
            <a:spAutoFit/>
          </a:bodyPr>
          <a:lstStyle/>
          <a:p>
            <a:pPr algn="l">
              <a:lnSpc>
                <a:spcPts val="4755"/>
              </a:lnSpc>
            </a:pPr>
            <a:r>
              <a:rPr lang="en-US" sz="4322">
                <a:solidFill>
                  <a:srgbClr val="000000"/>
                </a:solidFill>
                <a:latin typeface="Playfair Display"/>
                <a:ea typeface="Playfair Display"/>
                <a:cs typeface="Playfair Display"/>
                <a:sym typeface="Playfair Display"/>
              </a:rPr>
              <a:t>olá</a:t>
            </a:r>
          </a:p>
        </p:txBody>
      </p:sp>
      <p:sp>
        <p:nvSpPr>
          <p:cNvPr name="TextBox 8" id="8"/>
          <p:cNvSpPr txBox="true"/>
          <p:nvPr/>
        </p:nvSpPr>
        <p:spPr>
          <a:xfrm rot="0">
            <a:off x="383778" y="3782903"/>
            <a:ext cx="9761621" cy="6019582"/>
          </a:xfrm>
          <a:prstGeom prst="rect">
            <a:avLst/>
          </a:prstGeom>
        </p:spPr>
        <p:txBody>
          <a:bodyPr anchor="t" rtlCol="false" tIns="0" lIns="0" bIns="0" rIns="0">
            <a:spAutoFit/>
          </a:bodyPr>
          <a:lstStyle/>
          <a:p>
            <a:pPr algn="just">
              <a:lnSpc>
                <a:spcPts val="2663"/>
              </a:lnSpc>
            </a:pPr>
            <a:r>
              <a:rPr lang="en-US" sz="1902">
                <a:solidFill>
                  <a:srgbClr val="000000"/>
                </a:solidFill>
                <a:latin typeface="Garet"/>
                <a:ea typeface="Garet"/>
                <a:cs typeface="Garet"/>
                <a:sym typeface="Garet"/>
              </a:rPr>
              <a:t>Me chamo Matheus </a:t>
            </a:r>
            <a:r>
              <a:rPr lang="en-US" sz="1902">
                <a:solidFill>
                  <a:srgbClr val="000000"/>
                </a:solidFill>
                <a:latin typeface="Garet"/>
                <a:ea typeface="Garet"/>
                <a:cs typeface="Garet"/>
                <a:sym typeface="Garet"/>
              </a:rPr>
              <a:t>Lopes Spindola e sou estudante do primeiro semestre de Engenharia de Software. Tenho grande interesse na área de tecnologia, com foco em desenvolvimento de sistemas e na criação de soluções para problemas reais.</a:t>
            </a:r>
          </a:p>
          <a:p>
            <a:pPr algn="just">
              <a:lnSpc>
                <a:spcPts val="2663"/>
              </a:lnSpc>
            </a:pPr>
          </a:p>
          <a:p>
            <a:pPr algn="just">
              <a:lnSpc>
                <a:spcPts val="2663"/>
              </a:lnSpc>
            </a:pPr>
            <a:r>
              <a:rPr lang="en-US" sz="1902">
                <a:solidFill>
                  <a:srgbClr val="000000"/>
                </a:solidFill>
                <a:latin typeface="Garet"/>
                <a:ea typeface="Garet"/>
                <a:cs typeface="Garet"/>
                <a:sym typeface="Garet"/>
              </a:rPr>
              <a:t>Atualmente, estou em constante aprendizado, desenvolvendo minhas habilidades em lógica de programação e explorando novas tecnologias ao longo da graduação. Busco oportunidades para adquirir experiência prática e evoluir profissionalmente na área de desenvolvimento de software.</a:t>
            </a:r>
          </a:p>
          <a:p>
            <a:pPr algn="just">
              <a:lnSpc>
                <a:spcPts val="2663"/>
              </a:lnSpc>
            </a:pPr>
            <a:r>
              <a:rPr lang="en-US" sz="1902">
                <a:solidFill>
                  <a:srgbClr val="000000"/>
                </a:solidFill>
                <a:latin typeface="Garet"/>
                <a:ea typeface="Garet"/>
                <a:cs typeface="Garet"/>
                <a:sym typeface="Garet"/>
              </a:rPr>
              <a:t>Sou dedicado, proativo e tenho facilidade em aprender, sempre buscando aprimorar meu raciocínio lógico e minha capacidade de resolver problemas. Tenho afinidade com computadores e interesse em entender como a tecnologia pode ser aplicada de forma eficiente no dia a dia.</a:t>
            </a:r>
          </a:p>
          <a:p>
            <a:pPr algn="just">
              <a:lnSpc>
                <a:spcPts val="2663"/>
              </a:lnSpc>
            </a:pPr>
          </a:p>
          <a:p>
            <a:pPr algn="just">
              <a:lnSpc>
                <a:spcPts val="2663"/>
              </a:lnSpc>
            </a:pPr>
            <a:r>
              <a:rPr lang="en-US" sz="1902">
                <a:solidFill>
                  <a:srgbClr val="000000"/>
                </a:solidFill>
                <a:latin typeface="Garet"/>
                <a:ea typeface="Garet"/>
                <a:cs typeface="Garet"/>
                <a:sym typeface="Garet"/>
              </a:rPr>
              <a:t>gosto de academia, atividades que estimulam o pensamento estratégico, como xadrez e campo minado, e pratico musculação, o que contribui para minha disciplina, foco e consistência.</a:t>
            </a:r>
          </a:p>
          <a:p>
            <a:pPr algn="just">
              <a:lnSpc>
                <a:spcPts val="2663"/>
              </a:lnSpc>
            </a:pPr>
          </a:p>
        </p:txBody>
      </p:sp>
      <p:sp>
        <p:nvSpPr>
          <p:cNvPr name="TextBox 9" id="9"/>
          <p:cNvSpPr txBox="true"/>
          <p:nvPr/>
        </p:nvSpPr>
        <p:spPr>
          <a:xfrm rot="0">
            <a:off x="1028700" y="2551630"/>
            <a:ext cx="3503957" cy="455295"/>
          </a:xfrm>
          <a:prstGeom prst="rect">
            <a:avLst/>
          </a:prstGeom>
        </p:spPr>
        <p:txBody>
          <a:bodyPr anchor="t" rtlCol="false" tIns="0" lIns="0" bIns="0" rIns="0">
            <a:spAutoFit/>
          </a:bodyPr>
          <a:lstStyle/>
          <a:p>
            <a:pPr algn="just">
              <a:lnSpc>
                <a:spcPts val="3779"/>
              </a:lnSpc>
            </a:pPr>
            <a:r>
              <a:rPr lang="en-US" sz="2700">
                <a:solidFill>
                  <a:srgbClr val="000000"/>
                </a:solidFill>
                <a:latin typeface="Garet"/>
                <a:ea typeface="Garet"/>
                <a:cs typeface="Garet"/>
                <a:sym typeface="Garet"/>
              </a:rPr>
              <a:t>Sobre mim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BDBDB"/>
        </a:solidFill>
      </p:bgPr>
    </p:bg>
    <p:spTree>
      <p:nvGrpSpPr>
        <p:cNvPr id="1" name=""/>
        <p:cNvGrpSpPr/>
        <p:nvPr/>
      </p:nvGrpSpPr>
      <p:grpSpPr>
        <a:xfrm>
          <a:off x="0" y="0"/>
          <a:ext cx="0" cy="0"/>
          <a:chOff x="0" y="0"/>
          <a:chExt cx="0" cy="0"/>
        </a:xfrm>
      </p:grpSpPr>
      <p:sp>
        <p:nvSpPr>
          <p:cNvPr name="AutoShape 2" id="2"/>
          <p:cNvSpPr/>
          <p:nvPr/>
        </p:nvSpPr>
        <p:spPr>
          <a:xfrm>
            <a:off x="-1392515" y="2817347"/>
            <a:ext cx="13755343" cy="0"/>
          </a:xfrm>
          <a:prstGeom prst="line">
            <a:avLst/>
          </a:prstGeom>
          <a:ln cap="flat" w="19050">
            <a:solidFill>
              <a:srgbClr val="000000"/>
            </a:solidFill>
            <a:prstDash val="solid"/>
            <a:headEnd type="none" len="sm" w="sm"/>
            <a:tailEnd type="none" len="sm" w="sm"/>
          </a:ln>
        </p:spPr>
      </p:sp>
      <p:grpSp>
        <p:nvGrpSpPr>
          <p:cNvPr name="Group 3" id="3"/>
          <p:cNvGrpSpPr/>
          <p:nvPr/>
        </p:nvGrpSpPr>
        <p:grpSpPr>
          <a:xfrm rot="0">
            <a:off x="424687" y="5012094"/>
            <a:ext cx="4723163" cy="873139"/>
            <a:chOff x="0" y="0"/>
            <a:chExt cx="1115625" cy="206238"/>
          </a:xfrm>
        </p:grpSpPr>
        <p:sp>
          <p:nvSpPr>
            <p:cNvPr name="Freeform 4" id="4"/>
            <p:cNvSpPr/>
            <p:nvPr/>
          </p:nvSpPr>
          <p:spPr>
            <a:xfrm flipH="false" flipV="false" rot="0">
              <a:off x="0" y="0"/>
              <a:ext cx="1115625" cy="206238"/>
            </a:xfrm>
            <a:custGeom>
              <a:avLst/>
              <a:gdLst/>
              <a:ahLst/>
              <a:cxnLst/>
              <a:rect r="r" b="b" t="t" l="l"/>
              <a:pathLst>
                <a:path h="206238" w="1115625">
                  <a:moveTo>
                    <a:pt x="0" y="0"/>
                  </a:moveTo>
                  <a:lnTo>
                    <a:pt x="1115625" y="0"/>
                  </a:lnTo>
                  <a:lnTo>
                    <a:pt x="1115625" y="206238"/>
                  </a:lnTo>
                  <a:lnTo>
                    <a:pt x="0" y="206238"/>
                  </a:lnTo>
                  <a:close/>
                </a:path>
              </a:pathLst>
            </a:custGeom>
            <a:solidFill>
              <a:srgbClr val="706E74"/>
            </a:solidFill>
          </p:spPr>
        </p:sp>
        <p:sp>
          <p:nvSpPr>
            <p:cNvPr name="TextBox 5" id="5"/>
            <p:cNvSpPr txBox="true"/>
            <p:nvPr/>
          </p:nvSpPr>
          <p:spPr>
            <a:xfrm>
              <a:off x="0" y="-38100"/>
              <a:ext cx="1115625" cy="24433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972675" y="5065314"/>
            <a:ext cx="4739454" cy="876151"/>
            <a:chOff x="0" y="0"/>
            <a:chExt cx="1115625" cy="206238"/>
          </a:xfrm>
        </p:grpSpPr>
        <p:sp>
          <p:nvSpPr>
            <p:cNvPr name="Freeform 7" id="7"/>
            <p:cNvSpPr/>
            <p:nvPr/>
          </p:nvSpPr>
          <p:spPr>
            <a:xfrm flipH="false" flipV="false" rot="0">
              <a:off x="0" y="0"/>
              <a:ext cx="1115625" cy="206238"/>
            </a:xfrm>
            <a:custGeom>
              <a:avLst/>
              <a:gdLst/>
              <a:ahLst/>
              <a:cxnLst/>
              <a:rect r="r" b="b" t="t" l="l"/>
              <a:pathLst>
                <a:path h="206238" w="1115625">
                  <a:moveTo>
                    <a:pt x="0" y="0"/>
                  </a:moveTo>
                  <a:lnTo>
                    <a:pt x="1115625" y="0"/>
                  </a:lnTo>
                  <a:lnTo>
                    <a:pt x="1115625" y="206238"/>
                  </a:lnTo>
                  <a:lnTo>
                    <a:pt x="0" y="206238"/>
                  </a:lnTo>
                  <a:close/>
                </a:path>
              </a:pathLst>
            </a:custGeom>
            <a:solidFill>
              <a:srgbClr val="706E74"/>
            </a:solidFill>
          </p:spPr>
        </p:sp>
        <p:sp>
          <p:nvSpPr>
            <p:cNvPr name="TextBox 8" id="8"/>
            <p:cNvSpPr txBox="true"/>
            <p:nvPr/>
          </p:nvSpPr>
          <p:spPr>
            <a:xfrm>
              <a:off x="0" y="-38100"/>
              <a:ext cx="1115625" cy="244338"/>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209470" y="8423296"/>
            <a:ext cx="7315200" cy="3178787"/>
          </a:xfrm>
          <a:custGeom>
            <a:avLst/>
            <a:gdLst/>
            <a:ahLst/>
            <a:cxnLst/>
            <a:rect r="r" b="b" t="t" l="l"/>
            <a:pathLst>
              <a:path h="3178787" w="7315200">
                <a:moveTo>
                  <a:pt x="0" y="0"/>
                </a:moveTo>
                <a:lnTo>
                  <a:pt x="7315200" y="0"/>
                </a:lnTo>
                <a:lnTo>
                  <a:pt x="7315200" y="3178787"/>
                </a:lnTo>
                <a:lnTo>
                  <a:pt x="0" y="3178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674445" y="5164231"/>
            <a:ext cx="4223648" cy="511716"/>
          </a:xfrm>
          <a:prstGeom prst="rect">
            <a:avLst/>
          </a:prstGeom>
        </p:spPr>
        <p:txBody>
          <a:bodyPr anchor="t" rtlCol="false" tIns="0" lIns="0" bIns="0" rIns="0">
            <a:spAutoFit/>
          </a:bodyPr>
          <a:lstStyle/>
          <a:p>
            <a:pPr algn="ctr">
              <a:lnSpc>
                <a:spcPts val="4214"/>
              </a:lnSpc>
            </a:pPr>
            <a:r>
              <a:rPr lang="en-US" sz="3010">
                <a:solidFill>
                  <a:srgbClr val="FFFFFF"/>
                </a:solidFill>
                <a:latin typeface="Garet"/>
                <a:ea typeface="Garet"/>
                <a:cs typeface="Garet"/>
                <a:sym typeface="Garet"/>
              </a:rPr>
              <a:t>Ensino médio</a:t>
            </a:r>
          </a:p>
        </p:txBody>
      </p:sp>
      <p:sp>
        <p:nvSpPr>
          <p:cNvPr name="AutoShape 11" id="11"/>
          <p:cNvSpPr/>
          <p:nvPr/>
        </p:nvSpPr>
        <p:spPr>
          <a:xfrm>
            <a:off x="4898093" y="5448664"/>
            <a:ext cx="899967" cy="0"/>
          </a:xfrm>
          <a:prstGeom prst="line">
            <a:avLst/>
          </a:prstGeom>
          <a:ln cap="flat" w="19050">
            <a:solidFill>
              <a:srgbClr val="000000"/>
            </a:solidFill>
            <a:prstDash val="solid"/>
            <a:headEnd type="none" len="sm" w="sm"/>
            <a:tailEnd type="none" len="sm" w="sm"/>
          </a:ln>
        </p:spPr>
      </p:sp>
      <p:sp>
        <p:nvSpPr>
          <p:cNvPr name="AutoShape 12" id="12"/>
          <p:cNvSpPr/>
          <p:nvPr/>
        </p:nvSpPr>
        <p:spPr>
          <a:xfrm>
            <a:off x="14461509" y="5503389"/>
            <a:ext cx="847510" cy="0"/>
          </a:xfrm>
          <a:prstGeom prst="line">
            <a:avLst/>
          </a:prstGeom>
          <a:ln cap="flat" w="19050">
            <a:solidFill>
              <a:srgbClr val="000000"/>
            </a:solidFill>
            <a:prstDash val="solid"/>
            <a:headEnd type="none" len="sm" w="sm"/>
            <a:tailEnd type="none" len="sm" w="sm"/>
          </a:ln>
        </p:spPr>
      </p:sp>
      <p:sp>
        <p:nvSpPr>
          <p:cNvPr name="TextBox 13" id="13"/>
          <p:cNvSpPr txBox="true"/>
          <p:nvPr/>
        </p:nvSpPr>
        <p:spPr>
          <a:xfrm rot="0">
            <a:off x="5798060" y="1133475"/>
            <a:ext cx="11461240" cy="1365499"/>
          </a:xfrm>
          <a:prstGeom prst="rect">
            <a:avLst/>
          </a:prstGeom>
        </p:spPr>
        <p:txBody>
          <a:bodyPr anchor="t" rtlCol="false" tIns="0" lIns="0" bIns="0" rIns="0">
            <a:spAutoFit/>
          </a:bodyPr>
          <a:lstStyle/>
          <a:p>
            <a:pPr algn="r">
              <a:lnSpc>
                <a:spcPts val="10676"/>
              </a:lnSpc>
            </a:pPr>
            <a:r>
              <a:rPr lang="en-US" sz="9705">
                <a:solidFill>
                  <a:srgbClr val="000000"/>
                </a:solidFill>
                <a:latin typeface="Playfair Display"/>
                <a:ea typeface="Playfair Display"/>
                <a:cs typeface="Playfair Display"/>
                <a:sym typeface="Playfair Display"/>
              </a:rPr>
              <a:t>Formção academica</a:t>
            </a:r>
          </a:p>
        </p:txBody>
      </p:sp>
      <p:sp>
        <p:nvSpPr>
          <p:cNvPr name="TextBox 14" id="14"/>
          <p:cNvSpPr txBox="true"/>
          <p:nvPr/>
        </p:nvSpPr>
        <p:spPr>
          <a:xfrm rot="0">
            <a:off x="5977831" y="4898713"/>
            <a:ext cx="3166169" cy="1042752"/>
          </a:xfrm>
          <a:prstGeom prst="rect">
            <a:avLst/>
          </a:prstGeom>
        </p:spPr>
        <p:txBody>
          <a:bodyPr anchor="t" rtlCol="false" tIns="0" lIns="0" bIns="0" rIns="0">
            <a:spAutoFit/>
          </a:bodyPr>
          <a:lstStyle/>
          <a:p>
            <a:pPr algn="just">
              <a:lnSpc>
                <a:spcPts val="4214"/>
              </a:lnSpc>
            </a:pPr>
            <a:r>
              <a:rPr lang="en-US" sz="3010">
                <a:solidFill>
                  <a:srgbClr val="000000"/>
                </a:solidFill>
                <a:latin typeface="Garet"/>
                <a:ea typeface="Garet"/>
                <a:cs typeface="Garet"/>
                <a:sym typeface="Garet"/>
              </a:rPr>
              <a:t>conclusão </a:t>
            </a:r>
          </a:p>
          <a:p>
            <a:pPr algn="just">
              <a:lnSpc>
                <a:spcPts val="4214"/>
              </a:lnSpc>
            </a:pPr>
            <a:r>
              <a:rPr lang="en-US" sz="3010">
                <a:solidFill>
                  <a:srgbClr val="000000"/>
                </a:solidFill>
                <a:latin typeface="Garet"/>
                <a:ea typeface="Garet"/>
                <a:cs typeface="Garet"/>
                <a:sym typeface="Garet"/>
              </a:rPr>
              <a:t>2023 - 2025</a:t>
            </a:r>
          </a:p>
        </p:txBody>
      </p:sp>
      <p:sp>
        <p:nvSpPr>
          <p:cNvPr name="TextBox 15" id="15"/>
          <p:cNvSpPr txBox="true"/>
          <p:nvPr/>
        </p:nvSpPr>
        <p:spPr>
          <a:xfrm rot="0">
            <a:off x="9972675" y="6290222"/>
            <a:ext cx="6735844" cy="931545"/>
          </a:xfrm>
          <a:prstGeom prst="rect">
            <a:avLst/>
          </a:prstGeom>
        </p:spPr>
        <p:txBody>
          <a:bodyPr anchor="t" rtlCol="false" tIns="0" lIns="0" bIns="0" rIns="0">
            <a:spAutoFit/>
          </a:bodyPr>
          <a:lstStyle/>
          <a:p>
            <a:pPr algn="just">
              <a:lnSpc>
                <a:spcPts val="3779"/>
              </a:lnSpc>
            </a:pPr>
            <a:r>
              <a:rPr lang="en-US" sz="2700">
                <a:solidFill>
                  <a:srgbClr val="000000"/>
                </a:solidFill>
                <a:latin typeface="Garet"/>
                <a:ea typeface="Garet"/>
                <a:cs typeface="Garet"/>
                <a:sym typeface="Garet"/>
              </a:rPr>
              <a:t>Duração: 4 anos</a:t>
            </a:r>
          </a:p>
          <a:p>
            <a:pPr algn="just">
              <a:lnSpc>
                <a:spcPts val="3779"/>
              </a:lnSpc>
            </a:pPr>
            <a:r>
              <a:rPr lang="en-US" sz="2700">
                <a:solidFill>
                  <a:srgbClr val="000000"/>
                </a:solidFill>
                <a:latin typeface="Garet"/>
                <a:ea typeface="Garet"/>
                <a:cs typeface="Garet"/>
                <a:sym typeface="Garet"/>
              </a:rPr>
              <a:t>inicio: 2026</a:t>
            </a:r>
          </a:p>
        </p:txBody>
      </p:sp>
      <p:sp>
        <p:nvSpPr>
          <p:cNvPr name="TextBox 16" id="16"/>
          <p:cNvSpPr txBox="true"/>
          <p:nvPr/>
        </p:nvSpPr>
        <p:spPr>
          <a:xfrm rot="0">
            <a:off x="10223294" y="5218172"/>
            <a:ext cx="4238215" cy="513284"/>
          </a:xfrm>
          <a:prstGeom prst="rect">
            <a:avLst/>
          </a:prstGeom>
        </p:spPr>
        <p:txBody>
          <a:bodyPr anchor="t" rtlCol="false" tIns="0" lIns="0" bIns="0" rIns="0">
            <a:spAutoFit/>
          </a:bodyPr>
          <a:lstStyle/>
          <a:p>
            <a:pPr algn="ctr">
              <a:lnSpc>
                <a:spcPts val="4229"/>
              </a:lnSpc>
            </a:pPr>
            <a:r>
              <a:rPr lang="en-US" sz="3020">
                <a:solidFill>
                  <a:srgbClr val="FFFFFF"/>
                </a:solidFill>
                <a:latin typeface="Garet"/>
                <a:ea typeface="Garet"/>
                <a:cs typeface="Garet"/>
                <a:sym typeface="Garet"/>
              </a:rPr>
              <a:t>Bacharelado</a:t>
            </a:r>
          </a:p>
        </p:txBody>
      </p:sp>
      <p:sp>
        <p:nvSpPr>
          <p:cNvPr name="TextBox 17" id="17"/>
          <p:cNvSpPr txBox="true"/>
          <p:nvPr/>
        </p:nvSpPr>
        <p:spPr>
          <a:xfrm rot="0">
            <a:off x="15544972" y="5218172"/>
            <a:ext cx="2454347" cy="513284"/>
          </a:xfrm>
          <a:prstGeom prst="rect">
            <a:avLst/>
          </a:prstGeom>
        </p:spPr>
        <p:txBody>
          <a:bodyPr anchor="t" rtlCol="false" tIns="0" lIns="0" bIns="0" rIns="0">
            <a:spAutoFit/>
          </a:bodyPr>
          <a:lstStyle/>
          <a:p>
            <a:pPr algn="just">
              <a:lnSpc>
                <a:spcPts val="4229"/>
              </a:lnSpc>
            </a:pPr>
            <a:r>
              <a:rPr lang="en-US" sz="3020">
                <a:solidFill>
                  <a:srgbClr val="000000"/>
                </a:solidFill>
                <a:latin typeface="Garet"/>
                <a:ea typeface="Garet"/>
                <a:cs typeface="Garet"/>
                <a:sym typeface="Garet"/>
              </a:rPr>
              <a:t>Cursando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BDBDB"/>
        </a:solidFill>
      </p:bgPr>
    </p:bg>
    <p:spTree>
      <p:nvGrpSpPr>
        <p:cNvPr id="1" name=""/>
        <p:cNvGrpSpPr/>
        <p:nvPr/>
      </p:nvGrpSpPr>
      <p:grpSpPr>
        <a:xfrm>
          <a:off x="0" y="0"/>
          <a:ext cx="0" cy="0"/>
          <a:chOff x="0" y="0"/>
          <a:chExt cx="0" cy="0"/>
        </a:xfrm>
      </p:grpSpPr>
      <p:sp>
        <p:nvSpPr>
          <p:cNvPr name="AutoShape 2" id="2"/>
          <p:cNvSpPr/>
          <p:nvPr/>
        </p:nvSpPr>
        <p:spPr>
          <a:xfrm>
            <a:off x="14602344" y="3919040"/>
            <a:ext cx="13755343" cy="0"/>
          </a:xfrm>
          <a:prstGeom prst="line">
            <a:avLst/>
          </a:prstGeom>
          <a:ln cap="flat" w="19050">
            <a:solidFill>
              <a:srgbClr val="000000"/>
            </a:solidFill>
            <a:prstDash val="solid"/>
            <a:headEnd type="none" len="sm" w="sm"/>
            <a:tailEnd type="none" len="sm" w="sm"/>
          </a:ln>
        </p:spPr>
      </p:sp>
      <p:grpSp>
        <p:nvGrpSpPr>
          <p:cNvPr name="Group 3" id="3"/>
          <p:cNvGrpSpPr/>
          <p:nvPr/>
        </p:nvGrpSpPr>
        <p:grpSpPr>
          <a:xfrm rot="0">
            <a:off x="1028700" y="4674228"/>
            <a:ext cx="7410271" cy="5405590"/>
            <a:chOff x="0" y="0"/>
            <a:chExt cx="1951676" cy="1423695"/>
          </a:xfrm>
        </p:grpSpPr>
        <p:sp>
          <p:nvSpPr>
            <p:cNvPr name="Freeform 4" id="4"/>
            <p:cNvSpPr/>
            <p:nvPr/>
          </p:nvSpPr>
          <p:spPr>
            <a:xfrm flipH="false" flipV="false" rot="0">
              <a:off x="0" y="0"/>
              <a:ext cx="1951676" cy="1423694"/>
            </a:xfrm>
            <a:custGeom>
              <a:avLst/>
              <a:gdLst/>
              <a:ahLst/>
              <a:cxnLst/>
              <a:rect r="r" b="b" t="t" l="l"/>
              <a:pathLst>
                <a:path h="1423694" w="1951676">
                  <a:moveTo>
                    <a:pt x="0" y="0"/>
                  </a:moveTo>
                  <a:lnTo>
                    <a:pt x="1951676" y="0"/>
                  </a:lnTo>
                  <a:lnTo>
                    <a:pt x="1951676" y="1423694"/>
                  </a:lnTo>
                  <a:lnTo>
                    <a:pt x="0" y="1423694"/>
                  </a:lnTo>
                  <a:close/>
                </a:path>
              </a:pathLst>
            </a:custGeom>
            <a:solidFill>
              <a:srgbClr val="706E74"/>
            </a:solidFill>
          </p:spPr>
        </p:sp>
        <p:sp>
          <p:nvSpPr>
            <p:cNvPr name="TextBox 5" id="5"/>
            <p:cNvSpPr txBox="true"/>
            <p:nvPr/>
          </p:nvSpPr>
          <p:spPr>
            <a:xfrm>
              <a:off x="0" y="-38100"/>
              <a:ext cx="1951676" cy="146179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1919732" y="8494957"/>
            <a:ext cx="2546828" cy="2546828"/>
          </a:xfrm>
          <a:custGeom>
            <a:avLst/>
            <a:gdLst/>
            <a:ahLst/>
            <a:cxnLst/>
            <a:rect r="r" b="b" t="t" l="l"/>
            <a:pathLst>
              <a:path h="2546828" w="2546828">
                <a:moveTo>
                  <a:pt x="0" y="0"/>
                </a:moveTo>
                <a:lnTo>
                  <a:pt x="2546829" y="0"/>
                </a:lnTo>
                <a:lnTo>
                  <a:pt x="2546829" y="2546828"/>
                </a:lnTo>
                <a:lnTo>
                  <a:pt x="0" y="25468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3830452" y="8494957"/>
            <a:ext cx="2546828" cy="2546828"/>
          </a:xfrm>
          <a:custGeom>
            <a:avLst/>
            <a:gdLst/>
            <a:ahLst/>
            <a:cxnLst/>
            <a:rect r="r" b="b" t="t" l="l"/>
            <a:pathLst>
              <a:path h="2546828" w="2546828">
                <a:moveTo>
                  <a:pt x="0" y="0"/>
                </a:moveTo>
                <a:lnTo>
                  <a:pt x="2546828" y="0"/>
                </a:lnTo>
                <a:lnTo>
                  <a:pt x="2546828" y="2546828"/>
                </a:lnTo>
                <a:lnTo>
                  <a:pt x="0" y="25468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5741172" y="8494957"/>
            <a:ext cx="2546828" cy="2546828"/>
          </a:xfrm>
          <a:custGeom>
            <a:avLst/>
            <a:gdLst/>
            <a:ahLst/>
            <a:cxnLst/>
            <a:rect r="r" b="b" t="t" l="l"/>
            <a:pathLst>
              <a:path h="2546828" w="2546828">
                <a:moveTo>
                  <a:pt x="0" y="0"/>
                </a:moveTo>
                <a:lnTo>
                  <a:pt x="2546828" y="0"/>
                </a:lnTo>
                <a:lnTo>
                  <a:pt x="2546828" y="2546828"/>
                </a:lnTo>
                <a:lnTo>
                  <a:pt x="0" y="25468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08645" y="2182069"/>
            <a:ext cx="5727332" cy="1804266"/>
          </a:xfrm>
          <a:prstGeom prst="rect">
            <a:avLst/>
          </a:prstGeom>
        </p:spPr>
        <p:txBody>
          <a:bodyPr anchor="t" rtlCol="false" tIns="0" lIns="0" bIns="0" rIns="0">
            <a:spAutoFit/>
          </a:bodyPr>
          <a:lstStyle/>
          <a:p>
            <a:pPr algn="r">
              <a:lnSpc>
                <a:spcPts val="13992"/>
              </a:lnSpc>
            </a:pPr>
            <a:r>
              <a:rPr lang="en-US" sz="12720" i="true">
                <a:solidFill>
                  <a:srgbClr val="000000"/>
                </a:solidFill>
                <a:latin typeface="Playfair Display Italics"/>
                <a:ea typeface="Playfair Display Italics"/>
                <a:cs typeface="Playfair Display Italics"/>
                <a:sym typeface="Playfair Display Italics"/>
              </a:rPr>
              <a:t>Skills</a:t>
            </a:r>
          </a:p>
        </p:txBody>
      </p:sp>
      <p:sp>
        <p:nvSpPr>
          <p:cNvPr name="TextBox 10" id="10"/>
          <p:cNvSpPr txBox="true"/>
          <p:nvPr/>
        </p:nvSpPr>
        <p:spPr>
          <a:xfrm rot="0">
            <a:off x="15103866" y="1077564"/>
            <a:ext cx="2715191" cy="693070"/>
          </a:xfrm>
          <a:prstGeom prst="rect">
            <a:avLst/>
          </a:prstGeom>
        </p:spPr>
        <p:txBody>
          <a:bodyPr anchor="t" rtlCol="false" tIns="0" lIns="0" bIns="0" rIns="0">
            <a:spAutoFit/>
          </a:bodyPr>
          <a:lstStyle/>
          <a:p>
            <a:pPr algn="r">
              <a:lnSpc>
                <a:spcPts val="5377"/>
              </a:lnSpc>
            </a:pPr>
            <a:r>
              <a:rPr lang="en-US" sz="4888">
                <a:solidFill>
                  <a:srgbClr val="000000"/>
                </a:solidFill>
                <a:latin typeface="Playfair Display"/>
                <a:ea typeface="Playfair Display"/>
                <a:cs typeface="Playfair Display"/>
                <a:sym typeface="Playfair Display"/>
              </a:rPr>
              <a:t>hard</a:t>
            </a:r>
          </a:p>
        </p:txBody>
      </p:sp>
      <p:sp>
        <p:nvSpPr>
          <p:cNvPr name="TextBox 11" id="11"/>
          <p:cNvSpPr txBox="true"/>
          <p:nvPr/>
        </p:nvSpPr>
        <p:spPr>
          <a:xfrm rot="0">
            <a:off x="10468278" y="4166690"/>
            <a:ext cx="7924135" cy="4674369"/>
          </a:xfrm>
          <a:prstGeom prst="rect">
            <a:avLst/>
          </a:prstGeom>
        </p:spPr>
        <p:txBody>
          <a:bodyPr anchor="t" rtlCol="false" tIns="0" lIns="0" bIns="0" rIns="0">
            <a:spAutoFit/>
          </a:bodyPr>
          <a:lstStyle/>
          <a:p>
            <a:pPr algn="just" marL="410396" indent="-205198" lvl="1">
              <a:lnSpc>
                <a:spcPts val="2661"/>
              </a:lnSpc>
              <a:buFont typeface="Arial"/>
              <a:buChar char="•"/>
            </a:pPr>
            <a:r>
              <a:rPr lang="en-US" sz="1900">
                <a:solidFill>
                  <a:srgbClr val="000000"/>
                </a:solidFill>
                <a:latin typeface="Garet"/>
                <a:ea typeface="Garet"/>
                <a:cs typeface="Garet"/>
                <a:sym typeface="Garet"/>
              </a:rPr>
              <a:t>Lógica de Programação (nível básico)</a:t>
            </a:r>
          </a:p>
          <a:p>
            <a:pPr algn="just">
              <a:lnSpc>
                <a:spcPts val="2661"/>
              </a:lnSpc>
            </a:pPr>
          </a:p>
          <a:p>
            <a:pPr algn="just" marL="410396" indent="-205198" lvl="1">
              <a:lnSpc>
                <a:spcPts val="2661"/>
              </a:lnSpc>
              <a:buFont typeface="Arial"/>
              <a:buChar char="•"/>
            </a:pPr>
            <a:r>
              <a:rPr lang="en-US" sz="1900">
                <a:solidFill>
                  <a:srgbClr val="000000"/>
                </a:solidFill>
                <a:latin typeface="Garet"/>
                <a:ea typeface="Garet"/>
                <a:cs typeface="Garet"/>
                <a:sym typeface="Garet"/>
              </a:rPr>
              <a:t>Conhecimento em computadores e sistemas</a:t>
            </a:r>
          </a:p>
          <a:p>
            <a:pPr algn="just">
              <a:lnSpc>
                <a:spcPts val="2661"/>
              </a:lnSpc>
            </a:pPr>
          </a:p>
          <a:p>
            <a:pPr algn="just" marL="410396" indent="-205198" lvl="1">
              <a:lnSpc>
                <a:spcPts val="2661"/>
              </a:lnSpc>
              <a:buFont typeface="Arial"/>
              <a:buChar char="•"/>
            </a:pPr>
            <a:r>
              <a:rPr lang="en-US" sz="1900">
                <a:solidFill>
                  <a:srgbClr val="000000"/>
                </a:solidFill>
                <a:latin typeface="Garet"/>
                <a:ea typeface="Garet"/>
                <a:cs typeface="Garet"/>
                <a:sym typeface="Garet"/>
              </a:rPr>
              <a:t>Criação e organização de cardápios digitais (iFood)</a:t>
            </a:r>
          </a:p>
          <a:p>
            <a:pPr algn="just">
              <a:lnSpc>
                <a:spcPts val="2661"/>
              </a:lnSpc>
            </a:pPr>
          </a:p>
          <a:p>
            <a:pPr algn="just" marL="410396" indent="-205198" lvl="1">
              <a:lnSpc>
                <a:spcPts val="2661"/>
              </a:lnSpc>
              <a:buFont typeface="Arial"/>
              <a:buChar char="•"/>
            </a:pPr>
            <a:r>
              <a:rPr lang="en-US" sz="1900">
                <a:solidFill>
                  <a:srgbClr val="000000"/>
                </a:solidFill>
                <a:latin typeface="Garet"/>
                <a:ea typeface="Garet"/>
                <a:cs typeface="Garet"/>
                <a:sym typeface="Garet"/>
              </a:rPr>
              <a:t>Edição de imagens para redes sociais (Instagram)</a:t>
            </a:r>
          </a:p>
          <a:p>
            <a:pPr algn="just">
              <a:lnSpc>
                <a:spcPts val="2661"/>
              </a:lnSpc>
            </a:pPr>
          </a:p>
          <a:p>
            <a:pPr algn="just" marL="410396" indent="-205198" lvl="1">
              <a:lnSpc>
                <a:spcPts val="2661"/>
              </a:lnSpc>
              <a:buFont typeface="Arial"/>
              <a:buChar char="•"/>
            </a:pPr>
            <a:r>
              <a:rPr lang="en-US" sz="1900">
                <a:solidFill>
                  <a:srgbClr val="000000"/>
                </a:solidFill>
                <a:latin typeface="Garet"/>
                <a:ea typeface="Garet"/>
                <a:cs typeface="Garet"/>
                <a:sym typeface="Garet"/>
              </a:rPr>
              <a:t>Uso de ferramentas digitais e plataformas online</a:t>
            </a:r>
          </a:p>
          <a:p>
            <a:pPr algn="just">
              <a:lnSpc>
                <a:spcPts val="2661"/>
              </a:lnSpc>
            </a:pPr>
          </a:p>
          <a:p>
            <a:pPr algn="just" marL="410396" indent="-205198" lvl="1">
              <a:lnSpc>
                <a:spcPts val="2661"/>
              </a:lnSpc>
              <a:buFont typeface="Arial"/>
              <a:buChar char="•"/>
            </a:pPr>
            <a:r>
              <a:rPr lang="en-US" sz="1900">
                <a:solidFill>
                  <a:srgbClr val="000000"/>
                </a:solidFill>
                <a:latin typeface="Garet"/>
                <a:ea typeface="Garet"/>
                <a:cs typeface="Garet"/>
                <a:sym typeface="Garet"/>
              </a:rPr>
              <a:t>Noções básicas de desenvolvimento de sistemas</a:t>
            </a:r>
          </a:p>
          <a:p>
            <a:pPr algn="just">
              <a:lnSpc>
                <a:spcPts val="2661"/>
              </a:lnSpc>
            </a:pPr>
          </a:p>
          <a:p>
            <a:pPr algn="just" marL="410396" indent="-205198" lvl="1">
              <a:lnSpc>
                <a:spcPts val="2661"/>
              </a:lnSpc>
              <a:buFont typeface="Arial"/>
              <a:buChar char="•"/>
            </a:pPr>
            <a:r>
              <a:rPr lang="en-US" sz="1900">
                <a:solidFill>
                  <a:srgbClr val="000000"/>
                </a:solidFill>
                <a:latin typeface="Garet"/>
                <a:ea typeface="Garet"/>
                <a:cs typeface="Garet"/>
                <a:sym typeface="Garet"/>
              </a:rPr>
              <a:t>Pacote Office (básico/intermediário, se souber)</a:t>
            </a:r>
          </a:p>
          <a:p>
            <a:pPr algn="just">
              <a:lnSpc>
                <a:spcPts val="2661"/>
              </a:lnSpc>
            </a:pPr>
          </a:p>
        </p:txBody>
      </p:sp>
      <p:pic>
        <p:nvPicPr>
          <p:cNvPr name="Picture 12" id="12"/>
          <p:cNvPicPr>
            <a:picLocks noChangeAspect="true"/>
          </p:cNvPicPr>
          <p:nvPr/>
        </p:nvPicPr>
        <p:blipFill>
          <a:blip r:embed="rId4"/>
          <a:stretch>
            <a:fillRect/>
          </a:stretch>
        </p:blipFill>
        <p:spPr>
          <a:xfrm rot="0">
            <a:off x="4998077" y="5078750"/>
            <a:ext cx="2852785" cy="792440"/>
          </a:xfrm>
          <a:prstGeom prst="rect">
            <a:avLst/>
          </a:prstGeom>
        </p:spPr>
      </p:pic>
      <p:sp>
        <p:nvSpPr>
          <p:cNvPr name="TextBox 13" id="13"/>
          <p:cNvSpPr txBox="true"/>
          <p:nvPr/>
        </p:nvSpPr>
        <p:spPr>
          <a:xfrm rot="0">
            <a:off x="1357595" y="7329398"/>
            <a:ext cx="3036434" cy="455295"/>
          </a:xfrm>
          <a:prstGeom prst="rect">
            <a:avLst/>
          </a:prstGeom>
        </p:spPr>
        <p:txBody>
          <a:bodyPr anchor="t" rtlCol="false" tIns="0" lIns="0" bIns="0" rIns="0">
            <a:spAutoFit/>
          </a:bodyPr>
          <a:lstStyle/>
          <a:p>
            <a:pPr algn="l">
              <a:lnSpc>
                <a:spcPts val="3780"/>
              </a:lnSpc>
              <a:spcBef>
                <a:spcPct val="0"/>
              </a:spcBef>
            </a:pPr>
            <a:r>
              <a:rPr lang="en-US" sz="2700">
                <a:solidFill>
                  <a:srgbClr val="FFFFFF"/>
                </a:solidFill>
                <a:latin typeface="Garet"/>
                <a:ea typeface="Garet"/>
                <a:cs typeface="Garet"/>
                <a:sym typeface="Garet"/>
              </a:rPr>
              <a:t>Disciplina</a:t>
            </a:r>
          </a:p>
        </p:txBody>
      </p:sp>
      <p:sp>
        <p:nvSpPr>
          <p:cNvPr name="TextBox 14" id="14"/>
          <p:cNvSpPr txBox="true"/>
          <p:nvPr/>
        </p:nvSpPr>
        <p:spPr>
          <a:xfrm rot="0">
            <a:off x="1357595" y="8039662"/>
            <a:ext cx="3778642" cy="455295"/>
          </a:xfrm>
          <a:prstGeom prst="rect">
            <a:avLst/>
          </a:prstGeom>
        </p:spPr>
        <p:txBody>
          <a:bodyPr anchor="t" rtlCol="false" tIns="0" lIns="0" bIns="0" rIns="0">
            <a:spAutoFit/>
          </a:bodyPr>
          <a:lstStyle/>
          <a:p>
            <a:pPr algn="l">
              <a:lnSpc>
                <a:spcPts val="3780"/>
              </a:lnSpc>
              <a:spcBef>
                <a:spcPct val="0"/>
              </a:spcBef>
            </a:pPr>
            <a:r>
              <a:rPr lang="en-US" sz="2700">
                <a:solidFill>
                  <a:srgbClr val="FFFFFF"/>
                </a:solidFill>
                <a:latin typeface="Garet"/>
                <a:ea typeface="Garet"/>
                <a:cs typeface="Garet"/>
                <a:sym typeface="Garet"/>
              </a:rPr>
              <a:t>Trabalho em equipe</a:t>
            </a:r>
          </a:p>
        </p:txBody>
      </p:sp>
      <p:pic>
        <p:nvPicPr>
          <p:cNvPr name="Picture 15" id="15"/>
          <p:cNvPicPr>
            <a:picLocks noChangeAspect="true"/>
          </p:cNvPicPr>
          <p:nvPr/>
        </p:nvPicPr>
        <p:blipFill>
          <a:blip r:embed="rId5"/>
          <a:stretch>
            <a:fillRect/>
          </a:stretch>
        </p:blipFill>
        <p:spPr>
          <a:xfrm rot="0">
            <a:off x="4998077" y="5799675"/>
            <a:ext cx="2852785" cy="792440"/>
          </a:xfrm>
          <a:prstGeom prst="rect">
            <a:avLst/>
          </a:prstGeom>
        </p:spPr>
      </p:pic>
      <p:pic>
        <p:nvPicPr>
          <p:cNvPr name="Picture 16" id="16"/>
          <p:cNvPicPr>
            <a:picLocks noChangeAspect="true"/>
          </p:cNvPicPr>
          <p:nvPr/>
        </p:nvPicPr>
        <p:blipFill>
          <a:blip r:embed="rId6"/>
          <a:stretch>
            <a:fillRect/>
          </a:stretch>
        </p:blipFill>
        <p:spPr>
          <a:xfrm rot="0">
            <a:off x="4998077" y="6520599"/>
            <a:ext cx="2852785" cy="792440"/>
          </a:xfrm>
          <a:prstGeom prst="rect">
            <a:avLst/>
          </a:prstGeom>
        </p:spPr>
      </p:pic>
      <p:pic>
        <p:nvPicPr>
          <p:cNvPr name="Picture 17" id="17"/>
          <p:cNvPicPr>
            <a:picLocks noChangeAspect="true"/>
          </p:cNvPicPr>
          <p:nvPr/>
        </p:nvPicPr>
        <p:blipFill>
          <a:blip r:embed="rId7"/>
          <a:stretch>
            <a:fillRect/>
          </a:stretch>
        </p:blipFill>
        <p:spPr>
          <a:xfrm rot="0">
            <a:off x="4998077" y="7241524"/>
            <a:ext cx="2852785" cy="792440"/>
          </a:xfrm>
          <a:prstGeom prst="rect">
            <a:avLst/>
          </a:prstGeom>
        </p:spPr>
      </p:pic>
      <p:pic>
        <p:nvPicPr>
          <p:cNvPr name="Picture 18" id="18"/>
          <p:cNvPicPr>
            <a:picLocks noChangeAspect="true"/>
          </p:cNvPicPr>
          <p:nvPr/>
        </p:nvPicPr>
        <p:blipFill>
          <a:blip r:embed="rId8"/>
          <a:stretch>
            <a:fillRect/>
          </a:stretch>
        </p:blipFill>
        <p:spPr>
          <a:xfrm rot="0">
            <a:off x="4998077" y="7894902"/>
            <a:ext cx="2852785" cy="792440"/>
          </a:xfrm>
          <a:prstGeom prst="rect">
            <a:avLst/>
          </a:prstGeom>
        </p:spPr>
      </p:pic>
      <p:sp>
        <p:nvSpPr>
          <p:cNvPr name="TextBox 19" id="19"/>
          <p:cNvSpPr txBox="true"/>
          <p:nvPr/>
        </p:nvSpPr>
        <p:spPr>
          <a:xfrm rot="0">
            <a:off x="1357595" y="5268857"/>
            <a:ext cx="3036434" cy="455295"/>
          </a:xfrm>
          <a:prstGeom prst="rect">
            <a:avLst/>
          </a:prstGeom>
        </p:spPr>
        <p:txBody>
          <a:bodyPr anchor="t" rtlCol="false" tIns="0" lIns="0" bIns="0" rIns="0">
            <a:spAutoFit/>
          </a:bodyPr>
          <a:lstStyle/>
          <a:p>
            <a:pPr algn="l">
              <a:lnSpc>
                <a:spcPts val="3779"/>
              </a:lnSpc>
              <a:spcBef>
                <a:spcPct val="0"/>
              </a:spcBef>
            </a:pPr>
            <a:r>
              <a:rPr lang="en-US" sz="2700">
                <a:solidFill>
                  <a:srgbClr val="FFFFFF"/>
                </a:solidFill>
                <a:latin typeface="Garet"/>
                <a:ea typeface="Garet"/>
                <a:cs typeface="Garet"/>
                <a:sym typeface="Garet"/>
              </a:rPr>
              <a:t>comunicaçao</a:t>
            </a:r>
          </a:p>
        </p:txBody>
      </p:sp>
      <p:sp>
        <p:nvSpPr>
          <p:cNvPr name="TextBox 20" id="20"/>
          <p:cNvSpPr txBox="true"/>
          <p:nvPr/>
        </p:nvSpPr>
        <p:spPr>
          <a:xfrm rot="0">
            <a:off x="1357595" y="5944435"/>
            <a:ext cx="2453154" cy="455295"/>
          </a:xfrm>
          <a:prstGeom prst="rect">
            <a:avLst/>
          </a:prstGeom>
        </p:spPr>
        <p:txBody>
          <a:bodyPr anchor="t" rtlCol="false" tIns="0" lIns="0" bIns="0" rIns="0">
            <a:spAutoFit/>
          </a:bodyPr>
          <a:lstStyle/>
          <a:p>
            <a:pPr algn="l">
              <a:lnSpc>
                <a:spcPts val="3780"/>
              </a:lnSpc>
              <a:spcBef>
                <a:spcPct val="0"/>
              </a:spcBef>
            </a:pPr>
            <a:r>
              <a:rPr lang="en-US" sz="2700">
                <a:solidFill>
                  <a:srgbClr val="FFFFFF"/>
                </a:solidFill>
                <a:latin typeface="Garet"/>
                <a:ea typeface="Garet"/>
                <a:cs typeface="Garet"/>
                <a:sym typeface="Garet"/>
              </a:rPr>
              <a:t>Organização</a:t>
            </a:r>
          </a:p>
        </p:txBody>
      </p:sp>
      <p:sp>
        <p:nvSpPr>
          <p:cNvPr name="TextBox 21" id="21"/>
          <p:cNvSpPr txBox="true"/>
          <p:nvPr/>
        </p:nvSpPr>
        <p:spPr>
          <a:xfrm rot="0">
            <a:off x="0" y="1365174"/>
            <a:ext cx="2715191" cy="693070"/>
          </a:xfrm>
          <a:prstGeom prst="rect">
            <a:avLst/>
          </a:prstGeom>
        </p:spPr>
        <p:txBody>
          <a:bodyPr anchor="t" rtlCol="false" tIns="0" lIns="0" bIns="0" rIns="0">
            <a:spAutoFit/>
          </a:bodyPr>
          <a:lstStyle/>
          <a:p>
            <a:pPr algn="r">
              <a:lnSpc>
                <a:spcPts val="5377"/>
              </a:lnSpc>
            </a:pPr>
            <a:r>
              <a:rPr lang="en-US" sz="4888">
                <a:solidFill>
                  <a:srgbClr val="000000"/>
                </a:solidFill>
                <a:latin typeface="Playfair Display"/>
                <a:ea typeface="Playfair Display"/>
                <a:cs typeface="Playfair Display"/>
                <a:sym typeface="Playfair Display"/>
              </a:rPr>
              <a:t>soft</a:t>
            </a:r>
          </a:p>
        </p:txBody>
      </p:sp>
      <p:sp>
        <p:nvSpPr>
          <p:cNvPr name="AutoShape 22" id="22"/>
          <p:cNvSpPr/>
          <p:nvPr/>
        </p:nvSpPr>
        <p:spPr>
          <a:xfrm>
            <a:off x="-7330873" y="3928565"/>
            <a:ext cx="13755343" cy="0"/>
          </a:xfrm>
          <a:prstGeom prst="line">
            <a:avLst/>
          </a:prstGeom>
          <a:ln cap="flat" w="19050">
            <a:solidFill>
              <a:srgbClr val="000000"/>
            </a:solidFill>
            <a:prstDash val="solid"/>
            <a:headEnd type="none" len="sm" w="sm"/>
            <a:tailEnd type="none" len="sm" w="sm"/>
          </a:ln>
        </p:spPr>
      </p:sp>
      <p:sp>
        <p:nvSpPr>
          <p:cNvPr name="TextBox 23" id="23"/>
          <p:cNvSpPr txBox="true"/>
          <p:nvPr/>
        </p:nvSpPr>
        <p:spPr>
          <a:xfrm rot="0">
            <a:off x="12149560" y="1999235"/>
            <a:ext cx="5727332" cy="1804266"/>
          </a:xfrm>
          <a:prstGeom prst="rect">
            <a:avLst/>
          </a:prstGeom>
        </p:spPr>
        <p:txBody>
          <a:bodyPr anchor="t" rtlCol="false" tIns="0" lIns="0" bIns="0" rIns="0">
            <a:spAutoFit/>
          </a:bodyPr>
          <a:lstStyle/>
          <a:p>
            <a:pPr algn="r">
              <a:lnSpc>
                <a:spcPts val="13992"/>
              </a:lnSpc>
            </a:pPr>
            <a:r>
              <a:rPr lang="en-US" sz="12720" i="true">
                <a:solidFill>
                  <a:srgbClr val="000000"/>
                </a:solidFill>
                <a:latin typeface="Playfair Display Italics"/>
                <a:ea typeface="Playfair Display Italics"/>
                <a:cs typeface="Playfair Display Italics"/>
                <a:sym typeface="Playfair Display Italics"/>
              </a:rPr>
              <a:t>Skills</a:t>
            </a:r>
          </a:p>
        </p:txBody>
      </p:sp>
      <p:sp>
        <p:nvSpPr>
          <p:cNvPr name="TextBox 24" id="24"/>
          <p:cNvSpPr txBox="true"/>
          <p:nvPr/>
        </p:nvSpPr>
        <p:spPr>
          <a:xfrm rot="0">
            <a:off x="1357595" y="6742894"/>
            <a:ext cx="4559934" cy="367429"/>
          </a:xfrm>
          <a:prstGeom prst="rect">
            <a:avLst/>
          </a:prstGeom>
        </p:spPr>
        <p:txBody>
          <a:bodyPr anchor="t" rtlCol="false" tIns="0" lIns="0" bIns="0" rIns="0">
            <a:spAutoFit/>
          </a:bodyPr>
          <a:lstStyle/>
          <a:p>
            <a:pPr algn="l">
              <a:lnSpc>
                <a:spcPts val="3053"/>
              </a:lnSpc>
              <a:spcBef>
                <a:spcPct val="0"/>
              </a:spcBef>
            </a:pPr>
            <a:r>
              <a:rPr lang="en-US" sz="2181">
                <a:solidFill>
                  <a:srgbClr val="FFFFFF"/>
                </a:solidFill>
                <a:latin typeface="Garet"/>
                <a:ea typeface="Garet"/>
                <a:cs typeface="Garet"/>
                <a:sym typeface="Garet"/>
              </a:rPr>
              <a:t>Resolução de problemas</a:t>
            </a:r>
          </a:p>
        </p:txBody>
      </p:sp>
      <p:sp>
        <p:nvSpPr>
          <p:cNvPr name="TextBox 25" id="25"/>
          <p:cNvSpPr txBox="true"/>
          <p:nvPr/>
        </p:nvSpPr>
        <p:spPr>
          <a:xfrm rot="0">
            <a:off x="1357595" y="8828332"/>
            <a:ext cx="3778642" cy="455295"/>
          </a:xfrm>
          <a:prstGeom prst="rect">
            <a:avLst/>
          </a:prstGeom>
        </p:spPr>
        <p:txBody>
          <a:bodyPr anchor="t" rtlCol="false" tIns="0" lIns="0" bIns="0" rIns="0">
            <a:spAutoFit/>
          </a:bodyPr>
          <a:lstStyle/>
          <a:p>
            <a:pPr algn="l">
              <a:lnSpc>
                <a:spcPts val="3780"/>
              </a:lnSpc>
              <a:spcBef>
                <a:spcPct val="0"/>
              </a:spcBef>
            </a:pPr>
            <a:r>
              <a:rPr lang="en-US" sz="2700">
                <a:solidFill>
                  <a:srgbClr val="FFFFFF"/>
                </a:solidFill>
                <a:latin typeface="Garet"/>
                <a:ea typeface="Garet"/>
                <a:cs typeface="Garet"/>
                <a:sym typeface="Garet"/>
              </a:rPr>
              <a:t>Foco em resultados</a:t>
            </a:r>
          </a:p>
        </p:txBody>
      </p:sp>
      <p:pic>
        <p:nvPicPr>
          <p:cNvPr name="Picture 26" id="26"/>
          <p:cNvPicPr>
            <a:picLocks noChangeAspect="true"/>
          </p:cNvPicPr>
          <p:nvPr/>
        </p:nvPicPr>
        <p:blipFill>
          <a:blip r:embed="rId9"/>
          <a:stretch>
            <a:fillRect/>
          </a:stretch>
        </p:blipFill>
        <p:spPr>
          <a:xfrm rot="0">
            <a:off x="4998077" y="8640503"/>
            <a:ext cx="2852785" cy="792440"/>
          </a:xfrm>
          <a:prstGeom prst="rect">
            <a:avLst/>
          </a:prstGeom>
        </p:spPr>
      </p:pic>
      <p:sp>
        <p:nvSpPr>
          <p:cNvPr name="TextBox 27" id="27"/>
          <p:cNvSpPr txBox="true"/>
          <p:nvPr/>
        </p:nvSpPr>
        <p:spPr>
          <a:xfrm rot="0">
            <a:off x="1357595" y="9512227"/>
            <a:ext cx="3714981" cy="367157"/>
          </a:xfrm>
          <a:prstGeom prst="rect">
            <a:avLst/>
          </a:prstGeom>
        </p:spPr>
        <p:txBody>
          <a:bodyPr anchor="t" rtlCol="false" tIns="0" lIns="0" bIns="0" rIns="0">
            <a:spAutoFit/>
          </a:bodyPr>
          <a:lstStyle/>
          <a:p>
            <a:pPr algn="ctr">
              <a:lnSpc>
                <a:spcPts val="3051"/>
              </a:lnSpc>
              <a:spcBef>
                <a:spcPct val="0"/>
              </a:spcBef>
            </a:pPr>
            <a:r>
              <a:rPr lang="en-US" sz="2179">
                <a:solidFill>
                  <a:srgbClr val="FFFFFF"/>
                </a:solidFill>
                <a:latin typeface="Garet"/>
                <a:ea typeface="Garet"/>
                <a:cs typeface="Garet"/>
                <a:sym typeface="Garet"/>
              </a:rPr>
              <a:t>Facilidade de aprendizado</a:t>
            </a:r>
          </a:p>
        </p:txBody>
      </p:sp>
      <p:pic>
        <p:nvPicPr>
          <p:cNvPr name="Picture 28" id="28"/>
          <p:cNvPicPr>
            <a:picLocks noChangeAspect="true"/>
          </p:cNvPicPr>
          <p:nvPr/>
        </p:nvPicPr>
        <p:blipFill>
          <a:blip r:embed="rId10"/>
          <a:stretch>
            <a:fillRect/>
          </a:stretch>
        </p:blipFill>
        <p:spPr>
          <a:xfrm rot="0">
            <a:off x="4998077" y="9312595"/>
            <a:ext cx="2852785" cy="79244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BDBDB"/>
        </a:solidFill>
      </p:bgPr>
    </p:bg>
    <p:spTree>
      <p:nvGrpSpPr>
        <p:cNvPr id="1" name=""/>
        <p:cNvGrpSpPr/>
        <p:nvPr/>
      </p:nvGrpSpPr>
      <p:grpSpPr>
        <a:xfrm>
          <a:off x="0" y="0"/>
          <a:ext cx="0" cy="0"/>
          <a:chOff x="0" y="0"/>
          <a:chExt cx="0" cy="0"/>
        </a:xfrm>
      </p:grpSpPr>
      <p:sp>
        <p:nvSpPr>
          <p:cNvPr name="AutoShape 2" id="2"/>
          <p:cNvSpPr/>
          <p:nvPr/>
        </p:nvSpPr>
        <p:spPr>
          <a:xfrm>
            <a:off x="-3740026" y="1980787"/>
            <a:ext cx="10577388" cy="0"/>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true" rot="0">
            <a:off x="13197286" y="-1221991"/>
            <a:ext cx="6264479" cy="6275890"/>
          </a:xfrm>
          <a:custGeom>
            <a:avLst/>
            <a:gdLst/>
            <a:ahLst/>
            <a:cxnLst/>
            <a:rect r="r" b="b" t="t" l="l"/>
            <a:pathLst>
              <a:path h="6275890" w="6264479">
                <a:moveTo>
                  <a:pt x="0" y="6275890"/>
                </a:moveTo>
                <a:lnTo>
                  <a:pt x="6264480" y="6275890"/>
                </a:lnTo>
                <a:lnTo>
                  <a:pt x="6264480" y="0"/>
                </a:lnTo>
                <a:lnTo>
                  <a:pt x="0" y="0"/>
                </a:lnTo>
                <a:lnTo>
                  <a:pt x="0" y="627589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5599688" y="2974239"/>
            <a:ext cx="4827843" cy="783060"/>
            <a:chOff x="0" y="0"/>
            <a:chExt cx="1271531" cy="206238"/>
          </a:xfrm>
        </p:grpSpPr>
        <p:sp>
          <p:nvSpPr>
            <p:cNvPr name="Freeform 5" id="5"/>
            <p:cNvSpPr/>
            <p:nvPr/>
          </p:nvSpPr>
          <p:spPr>
            <a:xfrm flipH="false" flipV="false" rot="0">
              <a:off x="0" y="0"/>
              <a:ext cx="1271531" cy="206238"/>
            </a:xfrm>
            <a:custGeom>
              <a:avLst/>
              <a:gdLst/>
              <a:ahLst/>
              <a:cxnLst/>
              <a:rect r="r" b="b" t="t" l="l"/>
              <a:pathLst>
                <a:path h="206238" w="1271531">
                  <a:moveTo>
                    <a:pt x="0" y="0"/>
                  </a:moveTo>
                  <a:lnTo>
                    <a:pt x="1271531" y="0"/>
                  </a:lnTo>
                  <a:lnTo>
                    <a:pt x="1271531" y="206238"/>
                  </a:lnTo>
                  <a:lnTo>
                    <a:pt x="0" y="206238"/>
                  </a:lnTo>
                  <a:close/>
                </a:path>
              </a:pathLst>
            </a:custGeom>
            <a:solidFill>
              <a:srgbClr val="706E74"/>
            </a:solidFill>
          </p:spPr>
        </p:sp>
        <p:sp>
          <p:nvSpPr>
            <p:cNvPr name="TextBox 6" id="6"/>
            <p:cNvSpPr txBox="true"/>
            <p:nvPr/>
          </p:nvSpPr>
          <p:spPr>
            <a:xfrm>
              <a:off x="0" y="-38100"/>
              <a:ext cx="1271531" cy="244338"/>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0427531" y="2974239"/>
            <a:ext cx="2521069" cy="783060"/>
            <a:chOff x="0" y="0"/>
            <a:chExt cx="663985" cy="206238"/>
          </a:xfrm>
        </p:grpSpPr>
        <p:sp>
          <p:nvSpPr>
            <p:cNvPr name="Freeform 8" id="8"/>
            <p:cNvSpPr/>
            <p:nvPr/>
          </p:nvSpPr>
          <p:spPr>
            <a:xfrm flipH="false" flipV="false" rot="0">
              <a:off x="0" y="0"/>
              <a:ext cx="663985" cy="206238"/>
            </a:xfrm>
            <a:custGeom>
              <a:avLst/>
              <a:gdLst/>
              <a:ahLst/>
              <a:cxnLst/>
              <a:rect r="r" b="b" t="t" l="l"/>
              <a:pathLst>
                <a:path h="206238" w="663985">
                  <a:moveTo>
                    <a:pt x="0" y="0"/>
                  </a:moveTo>
                  <a:lnTo>
                    <a:pt x="663985" y="0"/>
                  </a:lnTo>
                  <a:lnTo>
                    <a:pt x="663985" y="206238"/>
                  </a:lnTo>
                  <a:lnTo>
                    <a:pt x="0" y="206238"/>
                  </a:lnTo>
                  <a:close/>
                </a:path>
              </a:pathLst>
            </a:custGeom>
            <a:solidFill>
              <a:srgbClr val="FFFFFF"/>
            </a:solidFill>
          </p:spPr>
        </p:sp>
        <p:sp>
          <p:nvSpPr>
            <p:cNvPr name="TextBox 9" id="9"/>
            <p:cNvSpPr txBox="true"/>
            <p:nvPr/>
          </p:nvSpPr>
          <p:spPr>
            <a:xfrm>
              <a:off x="0" y="-38100"/>
              <a:ext cx="663985" cy="244338"/>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5749142" y="6481175"/>
            <a:ext cx="4827843" cy="783060"/>
            <a:chOff x="0" y="0"/>
            <a:chExt cx="1271531" cy="206238"/>
          </a:xfrm>
        </p:grpSpPr>
        <p:sp>
          <p:nvSpPr>
            <p:cNvPr name="Freeform 11" id="11"/>
            <p:cNvSpPr/>
            <p:nvPr/>
          </p:nvSpPr>
          <p:spPr>
            <a:xfrm flipH="false" flipV="false" rot="0">
              <a:off x="0" y="0"/>
              <a:ext cx="1271531" cy="206238"/>
            </a:xfrm>
            <a:custGeom>
              <a:avLst/>
              <a:gdLst/>
              <a:ahLst/>
              <a:cxnLst/>
              <a:rect r="r" b="b" t="t" l="l"/>
              <a:pathLst>
                <a:path h="206238" w="1271531">
                  <a:moveTo>
                    <a:pt x="0" y="0"/>
                  </a:moveTo>
                  <a:lnTo>
                    <a:pt x="1271531" y="0"/>
                  </a:lnTo>
                  <a:lnTo>
                    <a:pt x="1271531" y="206238"/>
                  </a:lnTo>
                  <a:lnTo>
                    <a:pt x="0" y="206238"/>
                  </a:lnTo>
                  <a:close/>
                </a:path>
              </a:pathLst>
            </a:custGeom>
            <a:solidFill>
              <a:srgbClr val="706E74"/>
            </a:solidFill>
          </p:spPr>
        </p:sp>
        <p:sp>
          <p:nvSpPr>
            <p:cNvPr name="TextBox 12" id="12"/>
            <p:cNvSpPr txBox="true"/>
            <p:nvPr/>
          </p:nvSpPr>
          <p:spPr>
            <a:xfrm>
              <a:off x="0" y="-38100"/>
              <a:ext cx="1271531" cy="244338"/>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0576984" y="6481175"/>
            <a:ext cx="2521069" cy="783060"/>
            <a:chOff x="0" y="0"/>
            <a:chExt cx="663985" cy="206238"/>
          </a:xfrm>
        </p:grpSpPr>
        <p:sp>
          <p:nvSpPr>
            <p:cNvPr name="Freeform 14" id="14"/>
            <p:cNvSpPr/>
            <p:nvPr/>
          </p:nvSpPr>
          <p:spPr>
            <a:xfrm flipH="false" flipV="false" rot="0">
              <a:off x="0" y="0"/>
              <a:ext cx="663985" cy="206238"/>
            </a:xfrm>
            <a:custGeom>
              <a:avLst/>
              <a:gdLst/>
              <a:ahLst/>
              <a:cxnLst/>
              <a:rect r="r" b="b" t="t" l="l"/>
              <a:pathLst>
                <a:path h="206238" w="663985">
                  <a:moveTo>
                    <a:pt x="0" y="0"/>
                  </a:moveTo>
                  <a:lnTo>
                    <a:pt x="663985" y="0"/>
                  </a:lnTo>
                  <a:lnTo>
                    <a:pt x="663985" y="206238"/>
                  </a:lnTo>
                  <a:lnTo>
                    <a:pt x="0" y="206238"/>
                  </a:lnTo>
                  <a:close/>
                </a:path>
              </a:pathLst>
            </a:custGeom>
            <a:solidFill>
              <a:srgbClr val="FFFFFF"/>
            </a:solidFill>
          </p:spPr>
        </p:sp>
        <p:sp>
          <p:nvSpPr>
            <p:cNvPr name="TextBox 15" id="15"/>
            <p:cNvSpPr txBox="true"/>
            <p:nvPr/>
          </p:nvSpPr>
          <p:spPr>
            <a:xfrm>
              <a:off x="0" y="-38100"/>
              <a:ext cx="663985" cy="244338"/>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5957477" y="6539464"/>
            <a:ext cx="4147575" cy="628381"/>
          </a:xfrm>
          <a:prstGeom prst="rect">
            <a:avLst/>
          </a:prstGeom>
        </p:spPr>
        <p:txBody>
          <a:bodyPr anchor="t" rtlCol="false" tIns="0" lIns="0" bIns="0" rIns="0">
            <a:spAutoFit/>
          </a:bodyPr>
          <a:lstStyle/>
          <a:p>
            <a:pPr algn="ctr">
              <a:lnSpc>
                <a:spcPts val="2524"/>
              </a:lnSpc>
            </a:pPr>
            <a:r>
              <a:rPr lang="en-US" sz="1803">
                <a:solidFill>
                  <a:srgbClr val="FFFFFF"/>
                </a:solidFill>
                <a:latin typeface="Garet"/>
                <a:ea typeface="Garet"/>
                <a:cs typeface="Garet"/>
                <a:sym typeface="Garet"/>
              </a:rPr>
              <a:t>Criação e gestão de plataforma no iFood – Mix do Sabor Café e Bistrô</a:t>
            </a:r>
          </a:p>
        </p:txBody>
      </p:sp>
      <p:sp>
        <p:nvSpPr>
          <p:cNvPr name="TextBox 17" id="17"/>
          <p:cNvSpPr txBox="true"/>
          <p:nvPr/>
        </p:nvSpPr>
        <p:spPr>
          <a:xfrm rot="0">
            <a:off x="10740732" y="6621245"/>
            <a:ext cx="2193574" cy="455295"/>
          </a:xfrm>
          <a:prstGeom prst="rect">
            <a:avLst/>
          </a:prstGeom>
        </p:spPr>
        <p:txBody>
          <a:bodyPr anchor="t" rtlCol="false" tIns="0" lIns="0" bIns="0" rIns="0">
            <a:spAutoFit/>
          </a:bodyPr>
          <a:lstStyle/>
          <a:p>
            <a:pPr algn="ctr">
              <a:lnSpc>
                <a:spcPts val="3779"/>
              </a:lnSpc>
            </a:pPr>
            <a:r>
              <a:rPr lang="en-US" sz="2700">
                <a:solidFill>
                  <a:srgbClr val="000000"/>
                </a:solidFill>
                <a:latin typeface="Garet"/>
                <a:ea typeface="Garet"/>
                <a:cs typeface="Garet"/>
                <a:sym typeface="Garet"/>
              </a:rPr>
              <a:t>2026</a:t>
            </a:r>
          </a:p>
        </p:txBody>
      </p:sp>
      <p:sp>
        <p:nvSpPr>
          <p:cNvPr name="TextBox 18" id="18"/>
          <p:cNvSpPr txBox="true"/>
          <p:nvPr/>
        </p:nvSpPr>
        <p:spPr>
          <a:xfrm rot="0">
            <a:off x="7428805" y="1242109"/>
            <a:ext cx="7640416" cy="1442940"/>
          </a:xfrm>
          <a:prstGeom prst="rect">
            <a:avLst/>
          </a:prstGeom>
        </p:spPr>
        <p:txBody>
          <a:bodyPr anchor="t" rtlCol="false" tIns="0" lIns="0" bIns="0" rIns="0">
            <a:spAutoFit/>
          </a:bodyPr>
          <a:lstStyle/>
          <a:p>
            <a:pPr algn="l">
              <a:lnSpc>
                <a:spcPts val="11135"/>
              </a:lnSpc>
            </a:pPr>
            <a:r>
              <a:rPr lang="en-US" sz="10123" i="true">
                <a:solidFill>
                  <a:srgbClr val="000000"/>
                </a:solidFill>
                <a:latin typeface="Playfair Display Italics"/>
                <a:ea typeface="Playfair Display Italics"/>
                <a:cs typeface="Playfair Display Italics"/>
                <a:sym typeface="Playfair Display Italics"/>
              </a:rPr>
              <a:t>Trabalho</a:t>
            </a:r>
          </a:p>
        </p:txBody>
      </p:sp>
      <p:sp>
        <p:nvSpPr>
          <p:cNvPr name="TextBox 19" id="19"/>
          <p:cNvSpPr txBox="true"/>
          <p:nvPr/>
        </p:nvSpPr>
        <p:spPr>
          <a:xfrm rot="0">
            <a:off x="2932807" y="493754"/>
            <a:ext cx="4184271" cy="1363359"/>
          </a:xfrm>
          <a:prstGeom prst="rect">
            <a:avLst/>
          </a:prstGeom>
        </p:spPr>
        <p:txBody>
          <a:bodyPr anchor="t" rtlCol="false" tIns="0" lIns="0" bIns="0" rIns="0">
            <a:spAutoFit/>
          </a:bodyPr>
          <a:lstStyle/>
          <a:p>
            <a:pPr algn="r">
              <a:lnSpc>
                <a:spcPts val="5399"/>
              </a:lnSpc>
            </a:pPr>
            <a:r>
              <a:rPr lang="en-US" sz="4908">
                <a:solidFill>
                  <a:srgbClr val="000000"/>
                </a:solidFill>
                <a:latin typeface="Playfair Display"/>
                <a:ea typeface="Playfair Display"/>
                <a:cs typeface="Playfair Display"/>
                <a:sym typeface="Playfair Display"/>
              </a:rPr>
              <a:t>Experiencia     </a:t>
            </a:r>
          </a:p>
          <a:p>
            <a:pPr algn="r">
              <a:lnSpc>
                <a:spcPts val="5399"/>
              </a:lnSpc>
            </a:pPr>
            <a:r>
              <a:rPr lang="en-US" sz="4908">
                <a:solidFill>
                  <a:srgbClr val="000000"/>
                </a:solidFill>
                <a:latin typeface="Playfair Display"/>
                <a:ea typeface="Playfair Display"/>
                <a:cs typeface="Playfair Display"/>
                <a:sym typeface="Playfair Display"/>
              </a:rPr>
              <a:t>  de</a:t>
            </a:r>
          </a:p>
        </p:txBody>
      </p:sp>
      <p:sp>
        <p:nvSpPr>
          <p:cNvPr name="TextBox 20" id="20"/>
          <p:cNvSpPr txBox="true"/>
          <p:nvPr/>
        </p:nvSpPr>
        <p:spPr>
          <a:xfrm rot="0">
            <a:off x="4720878" y="4004949"/>
            <a:ext cx="8846243" cy="1999976"/>
          </a:xfrm>
          <a:prstGeom prst="rect">
            <a:avLst/>
          </a:prstGeom>
        </p:spPr>
        <p:txBody>
          <a:bodyPr anchor="t" rtlCol="false" tIns="0" lIns="0" bIns="0" rIns="0">
            <a:spAutoFit/>
          </a:bodyPr>
          <a:lstStyle/>
          <a:p>
            <a:pPr algn="just">
              <a:lnSpc>
                <a:spcPts val="2282"/>
              </a:lnSpc>
            </a:pPr>
            <a:r>
              <a:rPr lang="en-US" sz="1630">
                <a:solidFill>
                  <a:srgbClr val="000000"/>
                </a:solidFill>
                <a:latin typeface="Garet"/>
                <a:ea typeface="Garet"/>
                <a:cs typeface="Garet"/>
                <a:sym typeface="Garet"/>
              </a:rPr>
              <a:t>Atuei com suporte ao cliente, auxiliando no atendimento e na resolução de demandas, garantindo uma boa experiência para os usuários. Também fui responsável pela edição de posts para o Instagram, contribuindo para a divulgação e presença digital.</a:t>
            </a:r>
          </a:p>
          <a:p>
            <a:pPr algn="just">
              <a:lnSpc>
                <a:spcPts val="2282"/>
              </a:lnSpc>
            </a:pPr>
            <a:r>
              <a:rPr lang="en-US" sz="1630">
                <a:solidFill>
                  <a:srgbClr val="000000"/>
                </a:solidFill>
                <a:latin typeface="Garet"/>
                <a:ea typeface="Garet"/>
                <a:cs typeface="Garet"/>
                <a:sym typeface="Garet"/>
              </a:rPr>
              <a:t>Desenvolvi habilidades como comunicação, criatividade, resolução de problemas e relacionamento com o público.</a:t>
            </a:r>
          </a:p>
          <a:p>
            <a:pPr algn="just">
              <a:lnSpc>
                <a:spcPts val="2282"/>
              </a:lnSpc>
            </a:pPr>
          </a:p>
        </p:txBody>
      </p:sp>
      <p:sp>
        <p:nvSpPr>
          <p:cNvPr name="TextBox 21" id="21"/>
          <p:cNvSpPr txBox="true"/>
          <p:nvPr/>
        </p:nvSpPr>
        <p:spPr>
          <a:xfrm rot="0">
            <a:off x="5808023" y="3111504"/>
            <a:ext cx="4095633" cy="455295"/>
          </a:xfrm>
          <a:prstGeom prst="rect">
            <a:avLst/>
          </a:prstGeom>
        </p:spPr>
        <p:txBody>
          <a:bodyPr anchor="t" rtlCol="false" tIns="0" lIns="0" bIns="0" rIns="0">
            <a:spAutoFit/>
          </a:bodyPr>
          <a:lstStyle/>
          <a:p>
            <a:pPr algn="ctr">
              <a:lnSpc>
                <a:spcPts val="3779"/>
              </a:lnSpc>
            </a:pPr>
            <a:r>
              <a:rPr lang="en-US" sz="2700">
                <a:solidFill>
                  <a:srgbClr val="FFFFFF"/>
                </a:solidFill>
                <a:latin typeface="Garet"/>
                <a:ea typeface="Garet"/>
                <a:cs typeface="Garet"/>
                <a:sym typeface="Garet"/>
              </a:rPr>
              <a:t>Suporte na SYSHouse</a:t>
            </a:r>
          </a:p>
        </p:txBody>
      </p:sp>
      <p:sp>
        <p:nvSpPr>
          <p:cNvPr name="TextBox 22" id="22"/>
          <p:cNvSpPr txBox="true"/>
          <p:nvPr/>
        </p:nvSpPr>
        <p:spPr>
          <a:xfrm rot="0">
            <a:off x="10591279" y="3114309"/>
            <a:ext cx="2193574" cy="455295"/>
          </a:xfrm>
          <a:prstGeom prst="rect">
            <a:avLst/>
          </a:prstGeom>
        </p:spPr>
        <p:txBody>
          <a:bodyPr anchor="t" rtlCol="false" tIns="0" lIns="0" bIns="0" rIns="0">
            <a:spAutoFit/>
          </a:bodyPr>
          <a:lstStyle/>
          <a:p>
            <a:pPr algn="ctr">
              <a:lnSpc>
                <a:spcPts val="3779"/>
              </a:lnSpc>
            </a:pPr>
            <a:r>
              <a:rPr lang="en-US" sz="2700">
                <a:solidFill>
                  <a:srgbClr val="000000"/>
                </a:solidFill>
                <a:latin typeface="Garet"/>
                <a:ea typeface="Garet"/>
                <a:cs typeface="Garet"/>
                <a:sym typeface="Garet"/>
              </a:rPr>
              <a:t>2025-2026</a:t>
            </a:r>
          </a:p>
        </p:txBody>
      </p:sp>
      <p:sp>
        <p:nvSpPr>
          <p:cNvPr name="TextBox 23" id="23"/>
          <p:cNvSpPr txBox="true"/>
          <p:nvPr/>
        </p:nvSpPr>
        <p:spPr>
          <a:xfrm rot="0">
            <a:off x="5378038" y="7502360"/>
            <a:ext cx="8338537" cy="2792213"/>
          </a:xfrm>
          <a:prstGeom prst="rect">
            <a:avLst/>
          </a:prstGeom>
        </p:spPr>
        <p:txBody>
          <a:bodyPr anchor="t" rtlCol="false" tIns="0" lIns="0" bIns="0" rIns="0">
            <a:spAutoFit/>
          </a:bodyPr>
          <a:lstStyle/>
          <a:p>
            <a:pPr algn="just">
              <a:lnSpc>
                <a:spcPts val="2468"/>
              </a:lnSpc>
            </a:pPr>
            <a:r>
              <a:rPr lang="en-US" sz="1763">
                <a:solidFill>
                  <a:srgbClr val="000000"/>
                </a:solidFill>
                <a:latin typeface="Garet"/>
                <a:ea typeface="Garet"/>
                <a:cs typeface="Garet"/>
                <a:sym typeface="Garet"/>
              </a:rPr>
              <a:t>Atuei na criaçã</a:t>
            </a:r>
            <a:r>
              <a:rPr lang="en-US" sz="1763">
                <a:solidFill>
                  <a:srgbClr val="000000"/>
                </a:solidFill>
                <a:latin typeface="Garet"/>
                <a:ea typeface="Garet"/>
                <a:cs typeface="Garet"/>
                <a:sym typeface="Garet"/>
              </a:rPr>
              <a:t>o e configuração do perfil do estabelecimento na plataforma iFood, sendo responsável pela organização do cardápio digital, cadastro de produtos, definição de categorias e apoio na estruturação inicial do serviço de delivery.</a:t>
            </a:r>
          </a:p>
          <a:p>
            <a:pPr algn="just">
              <a:lnSpc>
                <a:spcPts val="2468"/>
              </a:lnSpc>
            </a:pPr>
            <a:r>
              <a:rPr lang="en-US" sz="1763">
                <a:solidFill>
                  <a:srgbClr val="000000"/>
                </a:solidFill>
                <a:latin typeface="Garet"/>
                <a:ea typeface="Garet"/>
                <a:cs typeface="Garet"/>
                <a:sym typeface="Garet"/>
              </a:rPr>
              <a:t>Essa experiência contribuiu para o desenvolvimento de habilidades como organização, atenção aos detalhes, adaptação a plataformas digitais e compreensão básica do funcionamento de sistemas voltados ao usuário e ao mercado.</a:t>
            </a:r>
          </a:p>
          <a:p>
            <a:pPr algn="just">
              <a:lnSpc>
                <a:spcPts val="2468"/>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BDBDB"/>
        </a:solidFill>
      </p:bgPr>
    </p:bg>
    <p:spTree>
      <p:nvGrpSpPr>
        <p:cNvPr id="1" name=""/>
        <p:cNvGrpSpPr/>
        <p:nvPr/>
      </p:nvGrpSpPr>
      <p:grpSpPr>
        <a:xfrm>
          <a:off x="0" y="0"/>
          <a:ext cx="0" cy="0"/>
          <a:chOff x="0" y="0"/>
          <a:chExt cx="0" cy="0"/>
        </a:xfrm>
      </p:grpSpPr>
      <p:grpSp>
        <p:nvGrpSpPr>
          <p:cNvPr name="Group 2" id="2"/>
          <p:cNvGrpSpPr/>
          <p:nvPr/>
        </p:nvGrpSpPr>
        <p:grpSpPr>
          <a:xfrm rot="0">
            <a:off x="7320700" y="3559239"/>
            <a:ext cx="3744776" cy="374477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81518" b="0"/>
              </a:stretch>
            </a:blipFill>
          </p:spPr>
        </p:sp>
      </p:grpSp>
      <p:sp>
        <p:nvSpPr>
          <p:cNvPr name="AutoShape 4" id="4"/>
          <p:cNvSpPr/>
          <p:nvPr/>
        </p:nvSpPr>
        <p:spPr>
          <a:xfrm>
            <a:off x="14882058" y="3674235"/>
            <a:ext cx="4754484" cy="0"/>
          </a:xfrm>
          <a:prstGeom prst="line">
            <a:avLst/>
          </a:prstGeom>
          <a:ln cap="flat" w="19050">
            <a:solidFill>
              <a:srgbClr val="000000"/>
            </a:solidFill>
            <a:prstDash val="solid"/>
            <a:headEnd type="none" len="sm" w="sm"/>
            <a:tailEnd type="none" len="sm" w="sm"/>
          </a:ln>
        </p:spPr>
      </p:sp>
      <p:sp>
        <p:nvSpPr>
          <p:cNvPr name="Freeform 5" id="5"/>
          <p:cNvSpPr/>
          <p:nvPr/>
        </p:nvSpPr>
        <p:spPr>
          <a:xfrm flipH="false" flipV="false" rot="0">
            <a:off x="14456250" y="6455250"/>
            <a:ext cx="5606101" cy="5606101"/>
          </a:xfrm>
          <a:custGeom>
            <a:avLst/>
            <a:gdLst/>
            <a:ahLst/>
            <a:cxnLst/>
            <a:rect r="r" b="b" t="t" l="l"/>
            <a:pathLst>
              <a:path h="5606101" w="5606101">
                <a:moveTo>
                  <a:pt x="0" y="0"/>
                </a:moveTo>
                <a:lnTo>
                  <a:pt x="5606100" y="0"/>
                </a:lnTo>
                <a:lnTo>
                  <a:pt x="5606100" y="5606100"/>
                </a:lnTo>
                <a:lnTo>
                  <a:pt x="0" y="56061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2150818" y="2116147"/>
            <a:ext cx="5108482" cy="1140849"/>
          </a:xfrm>
          <a:prstGeom prst="rect">
            <a:avLst/>
          </a:prstGeom>
        </p:spPr>
        <p:txBody>
          <a:bodyPr anchor="t" rtlCol="false" tIns="0" lIns="0" bIns="0" rIns="0">
            <a:spAutoFit/>
          </a:bodyPr>
          <a:lstStyle/>
          <a:p>
            <a:pPr algn="r">
              <a:lnSpc>
                <a:spcPts val="8888"/>
              </a:lnSpc>
            </a:pPr>
            <a:r>
              <a:rPr lang="en-US" sz="8080" i="true">
                <a:solidFill>
                  <a:srgbClr val="000000"/>
                </a:solidFill>
                <a:latin typeface="Playfair Display Italics"/>
                <a:ea typeface="Playfair Display Italics"/>
                <a:cs typeface="Playfair Display Italics"/>
                <a:sym typeface="Playfair Display Italics"/>
              </a:rPr>
              <a:t>Portfolio</a:t>
            </a:r>
          </a:p>
        </p:txBody>
      </p:sp>
      <p:sp>
        <p:nvSpPr>
          <p:cNvPr name="TextBox 7" id="7"/>
          <p:cNvSpPr txBox="true"/>
          <p:nvPr/>
        </p:nvSpPr>
        <p:spPr>
          <a:xfrm rot="0">
            <a:off x="14119109" y="1324071"/>
            <a:ext cx="3140191" cy="706352"/>
          </a:xfrm>
          <a:prstGeom prst="rect">
            <a:avLst/>
          </a:prstGeom>
        </p:spPr>
        <p:txBody>
          <a:bodyPr anchor="t" rtlCol="false" tIns="0" lIns="0" bIns="0" rIns="0">
            <a:spAutoFit/>
          </a:bodyPr>
          <a:lstStyle/>
          <a:p>
            <a:pPr algn="r">
              <a:lnSpc>
                <a:spcPts val="5463"/>
              </a:lnSpc>
            </a:pPr>
            <a:r>
              <a:rPr lang="en-US" sz="4967">
                <a:solidFill>
                  <a:srgbClr val="000000"/>
                </a:solidFill>
                <a:latin typeface="Playfair Display"/>
                <a:ea typeface="Playfair Display"/>
                <a:cs typeface="Playfair Display"/>
                <a:sym typeface="Playfair Display"/>
              </a:rPr>
              <a:t>PROJETOS</a:t>
            </a:r>
          </a:p>
        </p:txBody>
      </p:sp>
      <p:grpSp>
        <p:nvGrpSpPr>
          <p:cNvPr name="Group 8" id="8"/>
          <p:cNvGrpSpPr/>
          <p:nvPr/>
        </p:nvGrpSpPr>
        <p:grpSpPr>
          <a:xfrm rot="0">
            <a:off x="835726" y="5010409"/>
            <a:ext cx="5561059" cy="783060"/>
            <a:chOff x="0" y="0"/>
            <a:chExt cx="1464641" cy="206238"/>
          </a:xfrm>
        </p:grpSpPr>
        <p:sp>
          <p:nvSpPr>
            <p:cNvPr name="Freeform 9" id="9"/>
            <p:cNvSpPr/>
            <p:nvPr/>
          </p:nvSpPr>
          <p:spPr>
            <a:xfrm flipH="false" flipV="false" rot="0">
              <a:off x="0" y="0"/>
              <a:ext cx="1464641" cy="206238"/>
            </a:xfrm>
            <a:custGeom>
              <a:avLst/>
              <a:gdLst/>
              <a:ahLst/>
              <a:cxnLst/>
              <a:rect r="r" b="b" t="t" l="l"/>
              <a:pathLst>
                <a:path h="206238" w="1464641">
                  <a:moveTo>
                    <a:pt x="0" y="0"/>
                  </a:moveTo>
                  <a:lnTo>
                    <a:pt x="1464641" y="0"/>
                  </a:lnTo>
                  <a:lnTo>
                    <a:pt x="1464641" y="206238"/>
                  </a:lnTo>
                  <a:lnTo>
                    <a:pt x="0" y="206238"/>
                  </a:lnTo>
                  <a:close/>
                </a:path>
              </a:pathLst>
            </a:custGeom>
            <a:solidFill>
              <a:srgbClr val="706E74"/>
            </a:solidFill>
          </p:spPr>
        </p:sp>
        <p:sp>
          <p:nvSpPr>
            <p:cNvPr name="TextBox 10" id="10"/>
            <p:cNvSpPr txBox="true"/>
            <p:nvPr/>
          </p:nvSpPr>
          <p:spPr>
            <a:xfrm>
              <a:off x="0" y="-38100"/>
              <a:ext cx="1464641" cy="244338"/>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852326" y="5150479"/>
            <a:ext cx="5325374" cy="455295"/>
          </a:xfrm>
          <a:prstGeom prst="rect">
            <a:avLst/>
          </a:prstGeom>
        </p:spPr>
        <p:txBody>
          <a:bodyPr anchor="t" rtlCol="false" tIns="0" lIns="0" bIns="0" rIns="0">
            <a:spAutoFit/>
          </a:bodyPr>
          <a:lstStyle/>
          <a:p>
            <a:pPr algn="ctr">
              <a:lnSpc>
                <a:spcPts val="3779"/>
              </a:lnSpc>
            </a:pPr>
            <a:r>
              <a:rPr lang="en-US" sz="2700">
                <a:solidFill>
                  <a:srgbClr val="FFFFFF"/>
                </a:solidFill>
                <a:latin typeface="Garet"/>
                <a:ea typeface="Garet"/>
                <a:cs typeface="Garet"/>
                <a:sym typeface="Garet"/>
              </a:rPr>
              <a:t>Projeto: Sistema Zootecnico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BDBDB"/>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90500" y="5676470"/>
            <a:ext cx="4801030" cy="4801030"/>
          </a:xfrm>
          <a:custGeom>
            <a:avLst/>
            <a:gdLst/>
            <a:ahLst/>
            <a:cxnLst/>
            <a:rect r="r" b="b" t="t" l="l"/>
            <a:pathLst>
              <a:path h="4801030" w="4801030">
                <a:moveTo>
                  <a:pt x="0" y="0"/>
                </a:moveTo>
                <a:lnTo>
                  <a:pt x="4801030" y="0"/>
                </a:lnTo>
                <a:lnTo>
                  <a:pt x="4801030" y="4801030"/>
                </a:lnTo>
                <a:lnTo>
                  <a:pt x="0" y="4801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72440" y="3072646"/>
            <a:ext cx="6304408" cy="63044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80995" b="0"/>
              </a:stretch>
            </a:blipFill>
          </p:spPr>
        </p:sp>
      </p:grpSp>
      <p:sp>
        <p:nvSpPr>
          <p:cNvPr name="AutoShape 5" id="5"/>
          <p:cNvSpPr/>
          <p:nvPr/>
        </p:nvSpPr>
        <p:spPr>
          <a:xfrm>
            <a:off x="8639082" y="9208726"/>
            <a:ext cx="13755343" cy="0"/>
          </a:xfrm>
          <a:prstGeom prst="line">
            <a:avLst/>
          </a:prstGeom>
          <a:ln cap="flat" w="19050">
            <a:solidFill>
              <a:srgbClr val="000000"/>
            </a:solidFill>
            <a:prstDash val="solid"/>
            <a:headEnd type="none" len="sm" w="sm"/>
            <a:tailEnd type="none" len="sm" w="sm"/>
          </a:ln>
        </p:spPr>
      </p:sp>
      <p:sp>
        <p:nvSpPr>
          <p:cNvPr name="TextBox 6" id="6"/>
          <p:cNvSpPr txBox="true"/>
          <p:nvPr/>
        </p:nvSpPr>
        <p:spPr>
          <a:xfrm rot="0">
            <a:off x="1028700" y="1104900"/>
            <a:ext cx="5061031" cy="1305408"/>
          </a:xfrm>
          <a:prstGeom prst="rect">
            <a:avLst/>
          </a:prstGeom>
        </p:spPr>
        <p:txBody>
          <a:bodyPr anchor="t" rtlCol="false" tIns="0" lIns="0" bIns="0" rIns="0">
            <a:spAutoFit/>
          </a:bodyPr>
          <a:lstStyle/>
          <a:p>
            <a:pPr algn="l">
              <a:lnSpc>
                <a:spcPts val="10023"/>
              </a:lnSpc>
            </a:pPr>
            <a:r>
              <a:rPr lang="en-US" sz="9112">
                <a:solidFill>
                  <a:srgbClr val="000000"/>
                </a:solidFill>
                <a:latin typeface="Playfair Display"/>
                <a:ea typeface="Playfair Display"/>
                <a:cs typeface="Playfair Display"/>
                <a:sym typeface="Playfair Display"/>
              </a:rPr>
              <a:t>Projeto</a:t>
            </a:r>
          </a:p>
        </p:txBody>
      </p:sp>
      <p:sp>
        <p:nvSpPr>
          <p:cNvPr name="TextBox 7" id="7"/>
          <p:cNvSpPr txBox="true"/>
          <p:nvPr/>
        </p:nvSpPr>
        <p:spPr>
          <a:xfrm rot="0">
            <a:off x="8787523" y="2576043"/>
            <a:ext cx="8679046" cy="6623158"/>
          </a:xfrm>
          <a:prstGeom prst="rect">
            <a:avLst/>
          </a:prstGeom>
        </p:spPr>
        <p:txBody>
          <a:bodyPr anchor="t" rtlCol="false" tIns="0" lIns="0" bIns="0" rIns="0">
            <a:spAutoFit/>
          </a:bodyPr>
          <a:lstStyle/>
          <a:p>
            <a:pPr algn="just">
              <a:lnSpc>
                <a:spcPts val="3296"/>
              </a:lnSpc>
            </a:pPr>
            <a:r>
              <a:rPr lang="en-US" sz="2354">
                <a:solidFill>
                  <a:srgbClr val="000000"/>
                </a:solidFill>
                <a:latin typeface="Garet"/>
                <a:ea typeface="Garet"/>
                <a:cs typeface="Garet"/>
                <a:sym typeface="Garet"/>
              </a:rPr>
              <a:t>IInstituto Federal de Brasília (IFB) – Campus Planaltina</a:t>
            </a:r>
          </a:p>
          <a:p>
            <a:pPr algn="just">
              <a:lnSpc>
                <a:spcPts val="3296"/>
              </a:lnSpc>
            </a:pPr>
          </a:p>
          <a:p>
            <a:pPr algn="just">
              <a:lnSpc>
                <a:spcPts val="3296"/>
              </a:lnSpc>
            </a:pPr>
            <a:r>
              <a:rPr lang="en-US" sz="2354">
                <a:solidFill>
                  <a:srgbClr val="000000"/>
                </a:solidFill>
                <a:latin typeface="Garet"/>
                <a:ea typeface="Garet"/>
                <a:cs typeface="Garet"/>
                <a:sym typeface="Garet"/>
              </a:rPr>
              <a:t> Realizei a identificação e o diagnóstico de falhas no processo de organização de dados no setor zootécnico, com foco na área de suinocultura.</a:t>
            </a:r>
          </a:p>
          <a:p>
            <a:pPr algn="just">
              <a:lnSpc>
                <a:spcPts val="3296"/>
              </a:lnSpc>
            </a:pPr>
          </a:p>
          <a:p>
            <a:pPr algn="just">
              <a:lnSpc>
                <a:spcPts val="3296"/>
              </a:lnSpc>
            </a:pPr>
            <a:r>
              <a:rPr lang="en-US" sz="2354">
                <a:solidFill>
                  <a:srgbClr val="000000"/>
                </a:solidFill>
                <a:latin typeface="Garet"/>
                <a:ea typeface="Garet"/>
                <a:cs typeface="Garet"/>
                <a:sym typeface="Garet"/>
              </a:rPr>
              <a:t>Atuei analisando o fluxo de informações, identificando inconsistências e propondo melhorias na estruturação e organização dos dados, com o objetivo de tornar os processos mais eficientes e confiáveis.</a:t>
            </a:r>
          </a:p>
          <a:p>
            <a:pPr algn="just">
              <a:lnSpc>
                <a:spcPts val="3296"/>
              </a:lnSpc>
            </a:pPr>
          </a:p>
          <a:p>
            <a:pPr algn="just">
              <a:lnSpc>
                <a:spcPts val="3296"/>
              </a:lnSpc>
            </a:pPr>
            <a:r>
              <a:rPr lang="en-US" sz="2354">
                <a:solidFill>
                  <a:srgbClr val="000000"/>
                </a:solidFill>
                <a:latin typeface="Garet"/>
                <a:ea typeface="Garet"/>
                <a:cs typeface="Garet"/>
                <a:sym typeface="Garet"/>
              </a:rPr>
              <a:t>Essa experiência contribuiu para o desenvolvimento de habilidades em análise de requisitos, pensamento crítico, resolução de problemas e compreensão de processos organizacionais.</a:t>
            </a:r>
          </a:p>
          <a:p>
            <a:pPr algn="just">
              <a:lnSpc>
                <a:spcPts val="3296"/>
              </a:lnSpc>
            </a:pPr>
          </a:p>
        </p:txBody>
      </p:sp>
      <p:grpSp>
        <p:nvGrpSpPr>
          <p:cNvPr name="Group 8" id="8"/>
          <p:cNvGrpSpPr/>
          <p:nvPr/>
        </p:nvGrpSpPr>
        <p:grpSpPr>
          <a:xfrm rot="0">
            <a:off x="8787523" y="1581624"/>
            <a:ext cx="5561059" cy="783060"/>
            <a:chOff x="0" y="0"/>
            <a:chExt cx="1464641" cy="206238"/>
          </a:xfrm>
        </p:grpSpPr>
        <p:sp>
          <p:nvSpPr>
            <p:cNvPr name="Freeform 9" id="9"/>
            <p:cNvSpPr/>
            <p:nvPr/>
          </p:nvSpPr>
          <p:spPr>
            <a:xfrm flipH="false" flipV="false" rot="0">
              <a:off x="0" y="0"/>
              <a:ext cx="1464641" cy="206238"/>
            </a:xfrm>
            <a:custGeom>
              <a:avLst/>
              <a:gdLst/>
              <a:ahLst/>
              <a:cxnLst/>
              <a:rect r="r" b="b" t="t" l="l"/>
              <a:pathLst>
                <a:path h="206238" w="1464641">
                  <a:moveTo>
                    <a:pt x="0" y="0"/>
                  </a:moveTo>
                  <a:lnTo>
                    <a:pt x="1464641" y="0"/>
                  </a:lnTo>
                  <a:lnTo>
                    <a:pt x="1464641" y="206238"/>
                  </a:lnTo>
                  <a:lnTo>
                    <a:pt x="0" y="206238"/>
                  </a:lnTo>
                  <a:close/>
                </a:path>
              </a:pathLst>
            </a:custGeom>
            <a:solidFill>
              <a:srgbClr val="706E74"/>
            </a:solidFill>
          </p:spPr>
        </p:sp>
        <p:sp>
          <p:nvSpPr>
            <p:cNvPr name="TextBox 10" id="10"/>
            <p:cNvSpPr txBox="true"/>
            <p:nvPr/>
          </p:nvSpPr>
          <p:spPr>
            <a:xfrm>
              <a:off x="0" y="-38100"/>
              <a:ext cx="1464641" cy="244338"/>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947843" y="2362683"/>
            <a:ext cx="5325374" cy="455295"/>
          </a:xfrm>
          <a:prstGeom prst="rect">
            <a:avLst/>
          </a:prstGeom>
        </p:spPr>
        <p:txBody>
          <a:bodyPr anchor="t" rtlCol="false" tIns="0" lIns="0" bIns="0" rIns="0">
            <a:spAutoFit/>
          </a:bodyPr>
          <a:lstStyle/>
          <a:p>
            <a:pPr algn="ctr">
              <a:lnSpc>
                <a:spcPts val="3779"/>
              </a:lnSpc>
            </a:pPr>
            <a:r>
              <a:rPr lang="en-US" sz="2700">
                <a:solidFill>
                  <a:srgbClr val="000000"/>
                </a:solidFill>
                <a:latin typeface="Garet"/>
                <a:ea typeface="Garet"/>
                <a:cs typeface="Garet"/>
                <a:sym typeface="Garet"/>
              </a:rPr>
              <a:t>SISTEMA ZOOTECNICO</a:t>
            </a:r>
          </a:p>
        </p:txBody>
      </p:sp>
      <p:sp>
        <p:nvSpPr>
          <p:cNvPr name="TextBox 12" id="12"/>
          <p:cNvSpPr txBox="true"/>
          <p:nvPr/>
        </p:nvSpPr>
        <p:spPr>
          <a:xfrm rot="0">
            <a:off x="8787523" y="1671879"/>
            <a:ext cx="5325374" cy="455295"/>
          </a:xfrm>
          <a:prstGeom prst="rect">
            <a:avLst/>
          </a:prstGeom>
        </p:spPr>
        <p:txBody>
          <a:bodyPr anchor="t" rtlCol="false" tIns="0" lIns="0" bIns="0" rIns="0">
            <a:spAutoFit/>
          </a:bodyPr>
          <a:lstStyle/>
          <a:p>
            <a:pPr algn="ctr">
              <a:lnSpc>
                <a:spcPts val="3779"/>
              </a:lnSpc>
            </a:pPr>
            <a:r>
              <a:rPr lang="en-US" sz="2700">
                <a:solidFill>
                  <a:srgbClr val="FFFFFF"/>
                </a:solidFill>
                <a:latin typeface="Garet"/>
                <a:ea typeface="Garet"/>
                <a:cs typeface="Garet"/>
                <a:sym typeface="Garet"/>
              </a:rPr>
              <a:t>Análise de Requisitos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BDBDB"/>
        </a:solidFill>
      </p:bgPr>
    </p:bg>
    <p:spTree>
      <p:nvGrpSpPr>
        <p:cNvPr id="1" name=""/>
        <p:cNvGrpSpPr/>
        <p:nvPr/>
      </p:nvGrpSpPr>
      <p:grpSpPr>
        <a:xfrm>
          <a:off x="0" y="0"/>
          <a:ext cx="0" cy="0"/>
          <a:chOff x="0" y="0"/>
          <a:chExt cx="0" cy="0"/>
        </a:xfrm>
      </p:grpSpPr>
      <p:sp>
        <p:nvSpPr>
          <p:cNvPr name="Freeform 2" id="2"/>
          <p:cNvSpPr/>
          <p:nvPr/>
        </p:nvSpPr>
        <p:spPr>
          <a:xfrm flipH="false" flipV="false" rot="0">
            <a:off x="0" y="5531316"/>
            <a:ext cx="4663405" cy="4663405"/>
          </a:xfrm>
          <a:custGeom>
            <a:avLst/>
            <a:gdLst/>
            <a:ahLst/>
            <a:cxnLst/>
            <a:rect r="r" b="b" t="t" l="l"/>
            <a:pathLst>
              <a:path h="4663405" w="4663405">
                <a:moveTo>
                  <a:pt x="0" y="0"/>
                </a:moveTo>
                <a:lnTo>
                  <a:pt x="4663405" y="0"/>
                </a:lnTo>
                <a:lnTo>
                  <a:pt x="4663405" y="4663406"/>
                </a:lnTo>
                <a:lnTo>
                  <a:pt x="0" y="4663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65175" y="5513853"/>
            <a:ext cx="764569" cy="764569"/>
          </a:xfrm>
          <a:custGeom>
            <a:avLst/>
            <a:gdLst/>
            <a:ahLst/>
            <a:cxnLst/>
            <a:rect r="r" b="b" t="t" l="l"/>
            <a:pathLst>
              <a:path h="764569" w="764569">
                <a:moveTo>
                  <a:pt x="0" y="0"/>
                </a:moveTo>
                <a:lnTo>
                  <a:pt x="764569" y="0"/>
                </a:lnTo>
                <a:lnTo>
                  <a:pt x="764569" y="764569"/>
                </a:lnTo>
                <a:lnTo>
                  <a:pt x="0" y="7645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465175" y="6487442"/>
            <a:ext cx="764569" cy="764569"/>
          </a:xfrm>
          <a:custGeom>
            <a:avLst/>
            <a:gdLst/>
            <a:ahLst/>
            <a:cxnLst/>
            <a:rect r="r" b="b" t="t" l="l"/>
            <a:pathLst>
              <a:path h="764569" w="764569">
                <a:moveTo>
                  <a:pt x="0" y="0"/>
                </a:moveTo>
                <a:lnTo>
                  <a:pt x="764569" y="0"/>
                </a:lnTo>
                <a:lnTo>
                  <a:pt x="764569" y="764569"/>
                </a:lnTo>
                <a:lnTo>
                  <a:pt x="0" y="764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435620" y="7642536"/>
            <a:ext cx="823680" cy="823680"/>
          </a:xfrm>
          <a:custGeom>
            <a:avLst/>
            <a:gdLst/>
            <a:ahLst/>
            <a:cxnLst/>
            <a:rect r="r" b="b" t="t" l="l"/>
            <a:pathLst>
              <a:path h="823680" w="823680">
                <a:moveTo>
                  <a:pt x="0" y="0"/>
                </a:moveTo>
                <a:lnTo>
                  <a:pt x="823680" y="0"/>
                </a:lnTo>
                <a:lnTo>
                  <a:pt x="823680" y="823680"/>
                </a:lnTo>
                <a:lnTo>
                  <a:pt x="0" y="823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09155" y="902401"/>
            <a:ext cx="7643345" cy="1014753"/>
          </a:xfrm>
          <a:prstGeom prst="rect">
            <a:avLst/>
          </a:prstGeom>
        </p:spPr>
        <p:txBody>
          <a:bodyPr anchor="t" rtlCol="false" tIns="0" lIns="0" bIns="0" rIns="0">
            <a:spAutoFit/>
          </a:bodyPr>
          <a:lstStyle/>
          <a:p>
            <a:pPr algn="l">
              <a:lnSpc>
                <a:spcPts val="7845"/>
              </a:lnSpc>
            </a:pPr>
            <a:r>
              <a:rPr lang="en-US" sz="7132">
                <a:solidFill>
                  <a:srgbClr val="000000"/>
                </a:solidFill>
                <a:latin typeface="Playfair Display"/>
                <a:ea typeface="Playfair Display"/>
                <a:cs typeface="Playfair Display"/>
                <a:sym typeface="Playfair Display"/>
              </a:rPr>
              <a:t>Vamos Trabalhar</a:t>
            </a:r>
          </a:p>
        </p:txBody>
      </p:sp>
      <p:sp>
        <p:nvSpPr>
          <p:cNvPr name="TextBox 7" id="7"/>
          <p:cNvSpPr txBox="true"/>
          <p:nvPr/>
        </p:nvSpPr>
        <p:spPr>
          <a:xfrm rot="0">
            <a:off x="1294265" y="2040979"/>
            <a:ext cx="9989483" cy="1814541"/>
          </a:xfrm>
          <a:prstGeom prst="rect">
            <a:avLst/>
          </a:prstGeom>
        </p:spPr>
        <p:txBody>
          <a:bodyPr anchor="t" rtlCol="false" tIns="0" lIns="0" bIns="0" rIns="0">
            <a:spAutoFit/>
          </a:bodyPr>
          <a:lstStyle/>
          <a:p>
            <a:pPr algn="l">
              <a:lnSpc>
                <a:spcPts val="14075"/>
              </a:lnSpc>
            </a:pPr>
            <a:r>
              <a:rPr lang="en-US" sz="12795" i="true">
                <a:solidFill>
                  <a:srgbClr val="000000"/>
                </a:solidFill>
                <a:latin typeface="Playfair Display Italics"/>
                <a:ea typeface="Playfair Display Italics"/>
                <a:cs typeface="Playfair Display Italics"/>
                <a:sym typeface="Playfair Display Italics"/>
              </a:rPr>
              <a:t>Juntos</a:t>
            </a:r>
          </a:p>
        </p:txBody>
      </p:sp>
      <p:sp>
        <p:nvSpPr>
          <p:cNvPr name="TextBox 8" id="8"/>
          <p:cNvSpPr txBox="true"/>
          <p:nvPr/>
        </p:nvSpPr>
        <p:spPr>
          <a:xfrm rot="0">
            <a:off x="6639908" y="7802958"/>
            <a:ext cx="9287680" cy="455211"/>
          </a:xfrm>
          <a:prstGeom prst="rect">
            <a:avLst/>
          </a:prstGeom>
        </p:spPr>
        <p:txBody>
          <a:bodyPr anchor="t" rtlCol="false" tIns="0" lIns="0" bIns="0" rIns="0">
            <a:spAutoFit/>
          </a:bodyPr>
          <a:lstStyle/>
          <a:p>
            <a:pPr algn="r">
              <a:lnSpc>
                <a:spcPts val="3784"/>
              </a:lnSpc>
            </a:pPr>
            <a:r>
              <a:rPr lang="en-US" sz="2703" i="true">
                <a:solidFill>
                  <a:srgbClr val="000000"/>
                </a:solidFill>
                <a:latin typeface="Garet Italics"/>
                <a:ea typeface="Garet Italics"/>
                <a:cs typeface="Garet Italics"/>
                <a:sym typeface="Garet Italics"/>
              </a:rPr>
              <a:t>Quadra 6e Conj B Lote 18 Arapoangas</a:t>
            </a:r>
          </a:p>
        </p:txBody>
      </p:sp>
      <p:sp>
        <p:nvSpPr>
          <p:cNvPr name="TextBox 9" id="9"/>
          <p:cNvSpPr txBox="true"/>
          <p:nvPr/>
        </p:nvSpPr>
        <p:spPr>
          <a:xfrm rot="0">
            <a:off x="9727232" y="5644720"/>
            <a:ext cx="6200355" cy="455211"/>
          </a:xfrm>
          <a:prstGeom prst="rect">
            <a:avLst/>
          </a:prstGeom>
        </p:spPr>
        <p:txBody>
          <a:bodyPr anchor="t" rtlCol="false" tIns="0" lIns="0" bIns="0" rIns="0">
            <a:spAutoFit/>
          </a:bodyPr>
          <a:lstStyle/>
          <a:p>
            <a:pPr algn="r">
              <a:lnSpc>
                <a:spcPts val="3784"/>
              </a:lnSpc>
            </a:pPr>
            <a:r>
              <a:rPr lang="en-US" sz="2703" i="true">
                <a:solidFill>
                  <a:srgbClr val="000000"/>
                </a:solidFill>
                <a:latin typeface="Garet Italics"/>
                <a:ea typeface="Garet Italics"/>
                <a:cs typeface="Garet Italics"/>
                <a:sym typeface="Garet Italics"/>
              </a:rPr>
              <a:t>61 99945-9529</a:t>
            </a:r>
          </a:p>
        </p:txBody>
      </p:sp>
      <p:sp>
        <p:nvSpPr>
          <p:cNvPr name="TextBox 10" id="10"/>
          <p:cNvSpPr txBox="true"/>
          <p:nvPr/>
        </p:nvSpPr>
        <p:spPr>
          <a:xfrm rot="0">
            <a:off x="9727232" y="6628160"/>
            <a:ext cx="6200355" cy="455211"/>
          </a:xfrm>
          <a:prstGeom prst="rect">
            <a:avLst/>
          </a:prstGeom>
        </p:spPr>
        <p:txBody>
          <a:bodyPr anchor="t" rtlCol="false" tIns="0" lIns="0" bIns="0" rIns="0">
            <a:spAutoFit/>
          </a:bodyPr>
          <a:lstStyle/>
          <a:p>
            <a:pPr algn="r">
              <a:lnSpc>
                <a:spcPts val="3784"/>
              </a:lnSpc>
            </a:pPr>
            <a:r>
              <a:rPr lang="en-US" sz="2703" i="true">
                <a:solidFill>
                  <a:srgbClr val="000000"/>
                </a:solidFill>
                <a:latin typeface="Garet Italics"/>
                <a:ea typeface="Garet Italics"/>
                <a:cs typeface="Garet Italics"/>
                <a:sym typeface="Garet Italics"/>
              </a:rPr>
              <a:t>m4thh3us@gmail.com</a:t>
            </a:r>
          </a:p>
        </p:txBody>
      </p:sp>
      <p:sp>
        <p:nvSpPr>
          <p:cNvPr name="AutoShape 11" id="11"/>
          <p:cNvSpPr/>
          <p:nvPr/>
        </p:nvSpPr>
        <p:spPr>
          <a:xfrm flipV="true">
            <a:off x="7530547" y="1569414"/>
            <a:ext cx="11284118" cy="0"/>
          </a:xfrm>
          <a:prstGeom prst="line">
            <a:avLst/>
          </a:prstGeom>
          <a:ln cap="flat" w="19050">
            <a:solidFill>
              <a:srgbClr val="000000"/>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DAHGmcWNa2w</dc:identifier>
  <dcterms:modified xsi:type="dcterms:W3CDTF">2011-08-01T06:04:30Z</dcterms:modified>
  <cp:revision>1</cp:revision>
  <dc:title>Grey Minimalist Gradient Creative Portfolio Presentation</dc:title>
</cp:coreProperties>
</file>